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UNIVERSIDAD EAN · EDUCACIÓN CONTINUA · COLPENSIONES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Helvetica Neue"/>
              </a:rPr>
              <a:t>Gestión de Contenedores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en Entornos de Nube Híbrida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Sesión 1 · Fundamentos de contenedores y arquitectura de nube híbrida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Curso 101-EAN · 5 sesiones · Metodología teórico-práctica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Docente: Jawy Andrés Romero Pinto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Helvetica Neue"/>
              </a:rPr>
              <a:t>MSc · Especialista en ciberseguridad y nube híbrida · LFCE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Al final de estas 2 horas podrás…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82296" cy="102412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Explicar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qué es un contenedor, en qué se diferencia de una máquina virtual y qué problema resuelve.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16352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16352"/>
            <a:ext cx="82296" cy="10241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DA5"/>
                </a:solidFill>
                <a:latin typeface="Helvetica Neue"/>
              </a:rPr>
              <a:t>Reconocer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la arquitectura de nube híbrida y por qué los contenedores son su moneda de portabilidad.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86784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86784"/>
            <a:ext cx="82296" cy="10241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8A8A"/>
                </a:solidFill>
                <a:latin typeface="Helvetica Neue"/>
              </a:rPr>
              <a:t>Ejecutar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tus primeros contenedores con Docker: correr, listar, inspeccionar y eliminar.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57216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57216"/>
            <a:ext cx="82296" cy="102412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6694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32D2D"/>
                </a:solidFill>
                <a:latin typeface="Helvetica Neue"/>
              </a:rPr>
              <a:t>Aplicar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32704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el primer hábito de seguridad: usar imágenes oficiales verificadas.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«En mi máquina sí funciona»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problema que llevó al mundo a los contenedores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420624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32D2D"/>
                </a:solidFill>
                <a:latin typeface="Helvetica Neue"/>
              </a:rPr>
              <a:t>El despliegue tradicional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La app se desarrolla en un equipo con SUS versiones de todo.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Al pasarla al servidor: otro sistema operativo, otras librerías, otra configuración.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Resultado: errores que “solo pasan en producción”, despliegues de fin de semana, rollbacks dolorosos.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Cada ambiente (desarrollo, pruebas, producción, nube) es un mundo distinto que hay que domar a mano.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82296" cy="42062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8013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Lo que necesitamos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67128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46634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Que la aplicación viaje CON todo lo que necesita para correr.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Que corra idéntica en el portátil, el servidor local y la nube.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Que levante en segundos y se pueda replicar N veces.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A651"/>
                </a:solidFill>
                <a:latin typeface="Helvetica Neue"/>
              </a:rPr>
              <a:t>• Eso, exactamente, es un contenedor.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De los servidores físicos a los contenedores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Tres generaciones de aprovechar el mismo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1920240"/>
            <a:ext cx="2514600" cy="384048"/>
          </a:xfrm>
          <a:prstGeom prst="roundRect">
            <a:avLst>
              <a:gd name="adj" fmla="val 6000"/>
            </a:avLst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97510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Servidor físico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1 app por servidor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Semanas para aprovisionar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Capacidad desperdiciada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Escalar = comprar fierro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73736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10327" y="1920240"/>
            <a:ext cx="2514600" cy="384048"/>
          </a:xfrm>
          <a:prstGeom prst="roundRect">
            <a:avLst>
              <a:gd name="adj" fmla="val 6000"/>
            </a:avLst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7" y="197510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Máquinas virtuales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256032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Varias “máquinas” por servidor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Cada VM: SO completo (GBs)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Minutos para arrancar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Mejor uso, aún pesado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4" y="173736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86214" y="1920240"/>
            <a:ext cx="2514600" cy="384048"/>
          </a:xfrm>
          <a:prstGeom prst="roundRect">
            <a:avLst>
              <a:gd name="adj" fmla="val 6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4" y="197510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Contenedores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4" y="256032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Decenas por servidor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Comparten el kernel del host (MBs)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Arrancan en segundos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Portables entre local y nube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00A651"/>
                </a:solidFill>
                <a:latin typeface="Helvetica Neue"/>
              </a:rPr>
              <a:t>La flecha de la evolución: más densidad, más velocidad, más portabilidad.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¿Qué es un contenedor?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11430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D1B4B"/>
                </a:solidFill>
                <a:latin typeface="Helvetica Neue"/>
              </a:rPr>
              <a:t>Un proceso (o grupo de procesos) aislado que empaca la aplicación junto con TODO lo que necesita: librerías, dependencias, configuración y sistema de archivos.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82296" cy="28346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Qué SÍ lleva adentro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47288"/>
            <a:ext cx="4892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El código de la aplicación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Sus librerías y dependencias exactas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Configuración y variables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Un mini sistema de archivos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971800"/>
            <a:ext cx="82296" cy="283464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815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Qué NO lleva adentro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47288"/>
            <a:ext cx="4892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2044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Un sistema operativo completo (usa el kernel del host)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Datos permanentes (por defecto es efímero — S4)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La configuración del servidor donde corre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Contenedor vs. máquina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diferencia está en qué se comparte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5"/>
                </a:solidFill>
                <a:latin typeface="Helvetica Neue"/>
              </a:rPr>
              <a:t>Máquinas virtuales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120640"/>
            <a:ext cx="5029200" cy="448056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66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Hardware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17720"/>
            <a:ext cx="5029200" cy="448056"/>
          </a:xfrm>
          <a:prstGeom prst="rect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137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Sistema operativo del host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14800"/>
            <a:ext cx="5029200" cy="448056"/>
          </a:xfrm>
          <a:prstGeom prst="rect">
            <a:avLst/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108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Hipervisor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47872"/>
            <a:ext cx="5029200" cy="512064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758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SO invitado A  ·  SO invitado B  (GBs cada uno)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980944"/>
            <a:ext cx="5029200" cy="512064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089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App A  ·  App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600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Contenedores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5120640"/>
            <a:ext cx="5029200" cy="448056"/>
          </a:xfrm>
          <a:prstGeom prst="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21665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Hardware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617720"/>
            <a:ext cx="5029200" cy="448056"/>
          </a:xfrm>
          <a:prstGeom prst="rect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7137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Sistema operativo del host  —  kernel COMPARTIDO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050792"/>
            <a:ext cx="5029200" cy="512064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1788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Motor de contenedores (Docker)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483864"/>
            <a:ext cx="5029200" cy="512064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6118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App A · App B · App C · App D  (MBs)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A646E"/>
                </a:solidFill>
                <a:latin typeface="Helvetica Neue"/>
              </a:rPr>
              <a:t>La VM virtualiza el hardware (cada una trae su SO). El contenedor virtualiza el SO (todos comparten el kernel). Por eso pesa MBs y arranca en segundos.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Imagen vs. contenedor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concepto más importante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29260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DA5"/>
                </a:solidFill>
                <a:latin typeface="Helvetica Neue"/>
              </a:rPr>
              <a:t>IMAGEN — la receta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4892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754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Plantilla inmutable: app + dependencias + configuración.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Se construye una vez, se versiona (etiquetas o tags).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Se guarda y comparte en un registro (Docker Hub).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Ej.: nginx:1.27, postgres:16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0749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91640"/>
            <a:ext cx="82296" cy="292608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013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CONTENEDOR — el plato servido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67128"/>
            <a:ext cx="4709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2860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Instancia VIVA de una imagen: un proceso corriendo.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De una misma imagen puedes servir N contenedores.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Se crea y se destruye en segundos, sin afectar la imagen.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docker run nginx:1.27 → nace un contenedor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524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Analogía: la imagen es la receta congelada; el contenedor es el plato servido. Muchos platos de la misma receta — todos idénticos.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Cómo funciona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Tres piezas que hoy vas a tocar con tus manos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E8A8A"/>
                </a:solidFill>
                <a:latin typeface="Helvetica Neue"/>
              </a:rPr>
              <a:t>CLIENTE
docker (CLI)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Donde escribes los comandos:
docker run, docker ps…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0312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6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MOTOR
dockerd (daemon)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4612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Recibe las órdenes, crea y
supervisa los contenedores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0312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A2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6A2E8F"/>
                </a:solidFill>
                <a:latin typeface="Helvetica Neue"/>
              </a:rPr>
              <a:t>REGISTRO
Docker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4612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Biblioteca de imágenes:
pull (bajar) / push (subir)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86200" y="3017520"/>
            <a:ext cx="658368" cy="457200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635240" y="3017520"/>
            <a:ext cx="658368" cy="457200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El flujo de hoy en el lab: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1) escribes docker run nginx  →  2) el motor busca la imagen local; si no está, la baja del registro (pull)  →  3) crea el contenedor y lo arranca. Todo en segundos.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Docker Hub: la biblioteca de imágenes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Y el primer hábito de seguridad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4023360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Qué encuentras en el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4892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Millones de imágenes listas: nginx, postgres, python, redis…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Imágenes oficiales: mantenidas y verificadas (sello «Docker Official Image»).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Verified publishers: del fabricante (Microsoft, AWS…).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Comunidad: cualquiera puede publicar — y ahí está el riesgo.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91640"/>
            <a:ext cx="82296" cy="402336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013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32D2D"/>
                </a:solidFill>
                <a:latin typeface="Helvetica Neue"/>
              </a:rPr>
              <a:t>🔒 Eje de seguridad · 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67128"/>
            <a:ext cx="4709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286000"/>
            <a:ext cx="45720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212529"/>
                </a:solidFill>
                <a:latin typeface="Helvetica Neue"/>
              </a:rPr>
              <a:t>Regla de hoy: en este curso SOLO usamos imágenes oficiales o de publicadores verificados.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Una imagen de origen desconocido puede traer malware o mineros de criptomonedas.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Verifica el sello en el Hub antes del pull — lo harás en el lab.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212529"/>
                </a:solidFill>
                <a:latin typeface="Helvetica Neue"/>
              </a:rPr>
              <a:t>• Para una entidad financiera, esta regla no es opcional: es política.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¿Qué es la nube híbrida?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contexto real de Colpensiones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D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D1B4B"/>
                </a:solidFill>
                <a:latin typeface="Helvetica Neue"/>
              </a:rPr>
              <a:t>🏢 Infraestructura local (on-premise)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Servidores propios, en el datacenter de la entidad.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Control total, datos sensibles en casa.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Capacidad fija: crecer toma meses.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91640"/>
            <a:ext cx="4937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87451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8A8A"/>
                </a:solidFill>
                <a:latin typeface="Helvetica Neue"/>
              </a:rPr>
              <a:t>☁️ Nube pública (AWS, Azure…)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33172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Capacidad elástica: crece y decrece por demanda.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Pagas por uso, sin comprar hardware.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• Servicios gestionados listos para usar.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5916168" y="2606040"/>
            <a:ext cx="512064" cy="548640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10698480" cy="155448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149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Nube híbrida = usar ambos, con criterio.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Lo sensible y estable en casa; lo elástico y expuesto en la nube. El reto: que las aplicaciones puedan MOVERSE entre los dos mundos sin reescribirse. Ese movimiento es exactamente lo que el contenedor hace posible.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contenedor: la moneda de la nube híbrida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Misma imagen, cualquier destino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73736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IMAGEN
mi-app:1.0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31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💻 Tu portátil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desarrollo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984248" y="2743200"/>
            <a:ext cx="4096512" cy="118872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3931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41148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🖥️ Servidor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6177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pruebas / datos sensibles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818888" y="2743200"/>
            <a:ext cx="1261872" cy="118872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92240" y="3931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1148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☁️ VM en la nube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177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producción elástica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2743200"/>
            <a:ext cx="1572768" cy="118872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26880" y="39319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411480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⚙️ Orquestador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61772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Kubernetes — S5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743200"/>
            <a:ext cx="4407408" cy="1188720"/>
          </a:xfrm>
          <a:prstGeom prst="line">
            <a:avLst/>
          </a:prstGeom>
          <a:ln w="2540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00A651"/>
                </a:solidFill>
                <a:latin typeface="Helvetica Neue"/>
              </a:rPr>
              <a:t>docker run se comporta IGUAL en los cuatro destinos. La imagen no se toca: se construye una vez y corre donde convenga. Eso es portabilidad local ↔ nube.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Flujo de infraestructura: del código al contenedor corriendo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camino que recorre toda aplicación contenerizada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E8A8A"/>
                </a:solidFill>
                <a:latin typeface="Helvetica Neue"/>
              </a:rPr>
              <a:t>👩‍💻 DESARROLLO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Código de la app
+
Dockerfile
(la receta escrita)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52928" y="3291840"/>
            <a:ext cx="502920" cy="384048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1428" y="1993392"/>
            <a:ext cx="16459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A651"/>
                </a:solidFill>
                <a:latin typeface="Helvetica Neue"/>
              </a:rPr>
              <a:t>docker build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4388.0" y="2286000"/>
            <a:ext cx="0.0" cy="932688"/>
          </a:xfrm>
          <a:prstGeom prst="line">
            <a:avLst/>
          </a:prstGeom>
          <a:ln w="15240">
            <a:solidFill>
              <a:srgbClr val="00A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29000" y="2880360"/>
            <a:ext cx="1828800" cy="128016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24612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IMAGEN
mi-app:1.0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21808" y="3291840"/>
            <a:ext cx="502920" cy="384048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0308" y="1993392"/>
            <a:ext cx="16459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A651"/>
                </a:solidFill>
                <a:latin typeface="Helvetica Neue"/>
              </a:rPr>
              <a:t>docker push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73268.0" y="2286000"/>
            <a:ext cx="0.0" cy="932688"/>
          </a:xfrm>
          <a:prstGeom prst="line">
            <a:avLst/>
          </a:prstGeom>
          <a:ln w="15240">
            <a:solidFill>
              <a:srgbClr val="00A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897880" y="23774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A2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2505456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6A2E8F"/>
                </a:solidFill>
                <a:latin typeface="Helvetica Neue"/>
              </a:rPr>
              <a:t>REGISTRO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83464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46E"/>
                </a:solidFill>
                <a:latin typeface="Helvetica Neue"/>
              </a:rPr>
              <a:t>Docker Hub · ECR · ACR</a:t>
            </a:r>
          </a:p>
        </p:txBody>
      </p:sp>
      <p:pic>
        <p:nvPicPr>
          <p:cNvPr id="23" name="Picture 22" descr="Arch_Amazon-Elastic-Container-Registry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291840"/>
            <a:ext cx="777240" cy="777240"/>
          </a:xfrm>
          <a:prstGeom prst="rect">
            <a:avLst/>
          </a:prstGeom>
        </p:spPr>
      </p:pic>
      <p:pic>
        <p:nvPicPr>
          <p:cNvPr id="24" name="Picture 23" descr="10105-icon-service-Container-Regis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91840"/>
            <a:ext cx="777240" cy="777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89320" y="41605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5A646E"/>
                </a:solidFill>
                <a:latin typeface="Helvetica Neue"/>
              </a:rPr>
              <a:t>La imagen queda publicada
y versionada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58784" y="3291840"/>
            <a:ext cx="502920" cy="384048"/>
          </a:xfrm>
          <a:prstGeom prst="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7284" y="1993392"/>
            <a:ext cx="16459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0A651"/>
                </a:solidFill>
                <a:latin typeface="Helvetica Neue"/>
              </a:rPr>
              <a:t>docker pull + run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10244.0" y="2286000"/>
            <a:ext cx="0.0" cy="932688"/>
          </a:xfrm>
          <a:prstGeom prst="line">
            <a:avLst/>
          </a:prstGeom>
          <a:ln w="15240">
            <a:solidFill>
              <a:srgbClr val="00A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0" y="237744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50545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EJECUCIÓN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944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12529"/>
                </a:solidFill>
                <a:latin typeface="Helvetica Neue"/>
              </a:rPr>
              <a:t>🖥️  Servidor local</a:t>
            </a:r>
          </a:p>
        </p:txBody>
      </p:sp>
      <p:pic>
        <p:nvPicPr>
          <p:cNvPr id="32" name="Picture 31" descr="Arch_Amazon-EC2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401568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12680" y="34747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12529"/>
                </a:solidFill>
                <a:latin typeface="Helvetica Neue"/>
              </a:rPr>
              <a:t>AWS EC2</a:t>
            </a:r>
          </a:p>
        </p:txBody>
      </p:sp>
      <p:pic>
        <p:nvPicPr>
          <p:cNvPr id="34" name="Picture 33" descr="10021-icon-service-Virtual-Mach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08" y="4005072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12680" y="407822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12529"/>
                </a:solidFill>
                <a:latin typeface="Helvetica Neue"/>
              </a:rPr>
              <a:t>Azure VM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12064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524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285232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Cuatro etapas, tres comandos. La imagen se construye UNA vez y el registro la reparte a cualquier destino — local o nube. Hoy harás pull+run; en la S2 harás build+push de tu propia imagen.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Arquitectura de referencia: contenedores en nube híbrida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Así se ve el destino al que apunta este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0D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🏢 DATACENTER (on-premise)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8600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12529"/>
                </a:solidFill>
                <a:latin typeface="Helvetica Neue"/>
              </a:rPr>
              <a:t>Servidor con 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97480"/>
            <a:ext cx="1051560" cy="621792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app
pensiones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84832" y="2697480"/>
            <a:ext cx="1051560" cy="621792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4832" y="2788920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API
interna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5264" y="2697480"/>
            <a:ext cx="1051560" cy="621792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5264" y="2788920"/>
            <a:ext cx="1051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</a:rPr>
              <a:t>servicio
legado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11880"/>
            <a:ext cx="36576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3075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🗄️ Base de datos con datos sensibles
(se queda en casa — regulación y control)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0D1B4B"/>
                </a:solidFill>
                <a:latin typeface="Helvetica Neue"/>
              </a:rPr>
              <a:t>Lo estable, lo sensible, lo regulado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2651760"/>
            <a:ext cx="21945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6A2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7432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6A2E8F"/>
                </a:solidFill>
                <a:latin typeface="Helvetica Neue"/>
              </a:rPr>
              <a:t>REGISTRO</a:t>
            </a:r>
          </a:p>
        </p:txBody>
      </p:sp>
      <p:pic>
        <p:nvPicPr>
          <p:cNvPr id="24" name="Picture 23" descr="Arch_Amazon-Elastic-Container-Registry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108960"/>
            <a:ext cx="566928" cy="566928"/>
          </a:xfrm>
          <a:prstGeom prst="rect">
            <a:avLst/>
          </a:prstGeom>
        </p:spPr>
      </p:pic>
      <p:pic>
        <p:nvPicPr>
          <p:cNvPr id="25" name="Picture 24" descr="10105-icon-service-Container-Regis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08960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74920" y="37307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A646E"/>
                </a:solidFill>
                <a:latin typeface="Helvetica Neue"/>
              </a:rPr>
              <a:t>la misma imagen para ambos mundos</a:t>
            </a:r>
          </a:p>
        </p:txBody>
      </p:sp>
      <p:sp>
        <p:nvSpPr>
          <p:cNvPr id="27" name="Left-Right Arrow 26"/>
          <p:cNvSpPr/>
          <p:nvPr/>
        </p:nvSpPr>
        <p:spPr>
          <a:xfrm>
            <a:off x="4617720" y="3154680"/>
            <a:ext cx="457200" cy="365760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-Right Arrow 27"/>
          <p:cNvSpPr/>
          <p:nvPr/>
        </p:nvSpPr>
        <p:spPr>
          <a:xfrm>
            <a:off x="7114032" y="3154680"/>
            <a:ext cx="457200" cy="365760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79" y="169164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0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E8A8A"/>
                </a:solidFill>
                <a:latin typeface="Helvetica Neue"/>
              </a:rPr>
              <a:t>☁️ NUBE PÚBLICA (AWS / Azure)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28600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rch_Amazon-EC2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7" y="2377440"/>
            <a:ext cx="457200" cy="457200"/>
          </a:xfrm>
          <a:prstGeom prst="rect">
            <a:avLst/>
          </a:prstGeom>
        </p:spPr>
      </p:pic>
      <p:pic>
        <p:nvPicPr>
          <p:cNvPr id="33" name="Picture 32" descr="10021-icon-service-Virtual-Mach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377440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06840" y="24323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12529"/>
                </a:solidFill>
                <a:latin typeface="Helvetica Neue"/>
              </a:rPr>
              <a:t>VMs con Docker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2907792"/>
            <a:ext cx="1051560" cy="45720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2944368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Helvetica Neue"/>
              </a:rPr>
              <a:t>portal web
ciudadano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79992" y="2907792"/>
            <a:ext cx="1051560" cy="45720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9992" y="2944368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Helvetica Neue"/>
              </a:rPr>
              <a:t>API
pública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50424" y="2907792"/>
            <a:ext cx="1051560" cy="45720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0424" y="2944368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Helvetica Neue"/>
              </a:rPr>
              <a:t>réplica
de picos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3611880"/>
            <a:ext cx="36576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rch_Amazon-Elastic-Kubernetes-Service_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7" y="3703320"/>
            <a:ext cx="475488" cy="475488"/>
          </a:xfrm>
          <a:prstGeom prst="rect">
            <a:avLst/>
          </a:prstGeom>
        </p:spPr>
      </p:pic>
      <p:pic>
        <p:nvPicPr>
          <p:cNvPr id="43" name="Picture 42" descr="10023-icon-service-Kubernetes-Servi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3703320"/>
            <a:ext cx="475488" cy="47548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052560" y="3675887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6E"/>
                </a:solidFill>
                <a:latin typeface="Helvetica Neue"/>
              </a:rPr>
              <a:t>Orquestación gestionada
(EKS / AKS — lo veremos en S5)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4348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1">
                <a:solidFill>
                  <a:srgbClr val="0E8A8A"/>
                </a:solidFill>
                <a:latin typeface="Helvetica Neue"/>
              </a:rPr>
              <a:t>Lo elástico, lo expuesto, los picos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257800"/>
            <a:ext cx="11201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Cada carga vive donde más conviene — y como todas están contenerizadas, moverlas de un lado al otro es un docker pull, no un proyecto de migración de seis meses.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Dónde corren los contenedores en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nube de ESTE grupo — sus cuentas de Azure ya están activas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457200"/>
            <a:ext cx="2926080" cy="384048"/>
          </a:xfrm>
          <a:prstGeom prst="roundRect">
            <a:avLst>
              <a:gd name="adj" fmla="val 6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512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☁️ Nuestro entorno activo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105-icon-service-Container-Regis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566928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17320" y="16916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Azure Container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29968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El registro privado de imágenes en Azure — equivalente a ECR.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74650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Guardar y versionar TUS imágenes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87168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0021-icon-service-Virtual-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06040"/>
            <a:ext cx="566928" cy="5669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25786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Azure Virtual Machine +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916936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Una VM donde instalas Docker — idéntico a EC2 + Docker.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3347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Lo que haremos en este curso (S5)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74136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10104-icon-service-Container-Instan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93008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17320" y="346557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Azure Container Instances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803904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Contenedores sueltos por demanda, sin gestionar servidores — el "Fargate simple" de Azure.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5204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Tareas puntuales y pruebas rápidas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61104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2989-icon-service-Container-Apps-Environ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79976"/>
            <a:ext cx="566928" cy="5669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17320" y="43525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Azure Container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690872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Apps contenerizadas gestionadas con escalado automático (Kubernetes por debajo, sin verlo).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40740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Producción sin administrar clúster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48072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10023-icon-service-Kubernetes-Serv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266944"/>
            <a:ext cx="566928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17320" y="5239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Azure Kubernetes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577840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Kubernetes gestionado por Azure — equivalente a EKS.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294376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El estándar de orquestación (S5)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053328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00A651"/>
                </a:solidFill>
                <a:latin typeface="Helvetica Neue"/>
              </a:rPr>
              <a:t>Ojo: Docker Hub NO es de Azure — es el registro público y neutral de Docker. ACR es el registro privado DE Azure. En el lab usamos Docker Hub; la nube del curso es Azure.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Dónde corren los contenedores en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mapa equivalente en AWS — mismo menú, otros nombres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ch_Amazon-Elastic-Container-Registry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16916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Amazon ECR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29968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Elastic Container Registry — el registro privado de imágenes de tu organización.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4650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Guardar y versionar TUS imágenes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87168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rch_Amazon-EC2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06040"/>
            <a:ext cx="566928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17320" y="25786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Amazon EC2 +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16936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Una máquina virtual donde instalas Docker y corres contenedores a mano.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3347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Lo que haremos en este curso (S5)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74136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ch_Amazon-Elastic-Container-Service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93008"/>
            <a:ext cx="566928" cy="566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17320" y="346557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Amazon ECS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803904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Elastic Container Service — el orquestador nativo de AWS: tú defines el servicio, él mantiene los contenedores vivos.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5204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Producción sin administrar Kubernetes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61104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rch_AWS-Fargate_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79976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352544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AWS Fargate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690872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Contenedores serverless: ni siquiera ves los servidores — pagas por contenedor corriendo.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407408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Cargas variables sin gestionar VMs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48072"/>
            <a:ext cx="112014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rch_Amazon-Elastic-Kubernetes-Service_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266944"/>
            <a:ext cx="566928" cy="566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17320" y="52395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D1B4B"/>
                </a:solidFill>
                <a:latin typeface="Helvetica Neue"/>
              </a:rPr>
              <a:t>Amazon 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577840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12529"/>
                </a:solidFill>
                <a:latin typeface="Helvetica Neue"/>
              </a:rPr>
              <a:t>Elastic Kubernetes Service — Kubernetes gestionado por AWS.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294376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C77700"/>
                </a:solidFill>
                <a:latin typeface="Helvetica Neue"/>
              </a:rPr>
              <a:t>→ El estándar de orquestación (S5)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53328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00A651"/>
                </a:solidFill>
                <a:latin typeface="Helvetica Neue"/>
              </a:rPr>
              <a:t>Todos consumen las MISMAS imágenes Docker que aprenderás a construir — cambia quién administra, no el contenedor.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Casos de uso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Quién usa contenedores y para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82296" cy="196596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55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5"/>
                </a:solidFill>
                <a:latin typeface="Helvetica Neue"/>
              </a:rPr>
              <a:t>🎬 Microservicios a escala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21408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Netflix y Spotify parten su plataforma en cientos de servicios pequeños, cada uno en contenedores, desplegados miles de veces por semana sin tumbar el servicio.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82296" cy="1965960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55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A2E8F"/>
                </a:solidFill>
                <a:latin typeface="Helvetica Neue"/>
              </a:rPr>
              <a:t>🏦 Modernización en banca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21408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Bancos como Capital One e ING contenerizaron aplicaciones críticas: despliegues que tomaban semanas pasaron a horas, con ambientes idénticos y auditables.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82296" cy="196596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044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77700"/>
                </a:solidFill>
                <a:latin typeface="Helvetica Neue"/>
              </a:rPr>
              <a:t>📈 Picos de demanda estacionales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70248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Comercios en temporada alta replican contenedores en la nube y luego los apagan. Piensa en el fin de mes de pagos de una entidad de pensiones: misma lógica.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53035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82296" cy="196596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044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8A8A"/>
                </a:solidFill>
                <a:latin typeface="Helvetica Neue"/>
              </a:rPr>
              <a:t>🧪 Ambientes efímeros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70248"/>
            <a:ext cx="49377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Equipos de desarrollo y capacitación levantan ambientes completos en minutos y los destruyen al terminar — exactamente lo que tú harás hoy en el lab.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El patrón común: empacar una vez, desplegar donde convenga, escalar y destruir sin miedo.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Nuestra plataforma de práctica: Play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Docker real, en el navegador,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3931920"/>
          </a:xfrm>
          <a:prstGeom prst="rect">
            <a:avLst/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63ED"/>
                </a:solidFill>
                <a:latin typeface="Helvetica Neue"/>
              </a:rPr>
              <a:t>¿Qué 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48920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labs.play-with-docker.com — terminales Linux con Docker preinstalado, en tu navegador.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Solo necesitas una cuenta gratuita de Docker Hub.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Cero instalación: todos trabajamos en el mismo ambiente.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Cada sesión dura máximo 4 horas y se borra al cerrar.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50749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91640"/>
            <a:ext cx="82296" cy="393192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0136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Reglas de juego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67128"/>
            <a:ext cx="47091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28600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Guarda tu bitácora FUERA de la plataforma (se borra todo al expirar).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Si la sesión muere: crea otra instancia y repite — en contenedores eso toma segundos.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Es un ambiente compartido de práctica: nada de datos reales.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Plan B del curso: Docker Desktop en tu equipo (opcional).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Los 7 comandos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Tu vocabulario mínimo viable de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63ED"/>
                </a:solidFill>
                <a:latin typeface="Helvetica Neue"/>
              </a:rPr>
              <a:t>docker run &lt;imagen&gt;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1907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Crea y arranca un contenedor desde una imagen (baja la imagen si no está).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21992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4086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63ED"/>
                </a:solidFill>
                <a:latin typeface="Helvetica Neue"/>
              </a:rPr>
              <a:t>docker ps  /  docker ps -a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4086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Lista contenedores corriendo / todos (incluye detenidos).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43784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626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63ED"/>
                </a:solidFill>
                <a:latin typeface="Helvetica Neue"/>
              </a:rPr>
              <a:t>docker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962656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Lista las imágenes descargadas en la máquina.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65576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844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63ED"/>
                </a:solidFill>
                <a:latin typeface="Helvetica Neue"/>
              </a:rPr>
              <a:t>docker pull &lt;imagen&gt;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84448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Descarga una imagen del registro sin ejecutarla.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87368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63ED"/>
                </a:solidFill>
                <a:latin typeface="Helvetica Neue"/>
              </a:rPr>
              <a:t>docker logs &lt;contenedor&gt;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2062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Muestra la salida (logs) de un contenedor.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09160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280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63ED"/>
                </a:solidFill>
                <a:latin typeface="Helvetica Neue"/>
              </a:rPr>
              <a:t>docker stop &lt;contenedor&gt;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828032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Detiene un contenedor en ejecución.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30952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4982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D63ED"/>
                </a:solidFill>
                <a:latin typeface="Helvetica Neue"/>
              </a:rPr>
              <a:t>docker rm &lt;contenedor&gt;  /  docker rmi &lt;imagen&gt;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44982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Elimina un contenedor / una imagen.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0760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00A651"/>
                </a:solidFill>
                <a:latin typeface="Helvetica Neue"/>
              </a:rPr>
              <a:t>Truco: docker run -d = en segundo plano · docker run -p 8080:80 = publicar puerto (lo usamos hoy).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Ciclo de vida de un contenedor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Nace, corre, muere — y no pasa 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5A6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A646E"/>
                </a:solidFill>
                <a:latin typeface="Helvetica Neue"/>
              </a:rPr>
              <a:t>CREADO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docker create /
docker run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2788920"/>
            <a:ext cx="457200" cy="411480"/>
          </a:xfrm>
          <a:prstGeom prst="rightArrow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75888" y="21945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39572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CORRIENDO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9260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la app viva,
atiende peticiones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53328" y="2788920"/>
            <a:ext cx="457200" cy="411480"/>
          </a:xfrm>
          <a:prstGeom prst="rightArrow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28816" y="21945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239572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DETENIDO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29260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docker stop —
conserva su estado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06256" y="2788920"/>
            <a:ext cx="457200" cy="411480"/>
          </a:xfrm>
          <a:prstGeom prst="rightArrow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81744" y="21945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8904" y="239572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B32D2D"/>
                </a:solidFill>
                <a:latin typeface="Helvetica Neue"/>
              </a:rPr>
              <a:t>ELIMINADO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292608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5A646E"/>
                </a:solidFill>
                <a:latin typeface="Helvetica Neue"/>
              </a:rPr>
              <a:t>docker rm —
desaparece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8056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6344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C77700"/>
                </a:solidFill>
                <a:latin typeface="Helvetica Neue"/>
              </a:rPr>
              <a:t>⚠️ El contenedor es EFÍMERO por diseño.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Lo que escribas dentro se pierde al eliminarlo — hoy lo vas a comprobar en el lab. ¿Y los datos que deben sobrevivir? Ese problema lo resolvemos en la Sesión 4 con volúmenes y respaldos.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mapa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Hoy pones el cimiento de todo lo demás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719072"/>
            <a:ext cx="530352" cy="530352"/>
          </a:xfrm>
          <a:prstGeom prst="ellipse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6479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HOY · Fundamentos y arquitectura híbrida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92224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Primer contenedor + bitácora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9631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615184"/>
            <a:ext cx="530352" cy="530352"/>
          </a:xfrm>
          <a:prstGeom prst="ellipse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60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Imágenes propias: construir y publicar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8833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Tu imagen en Docker 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9242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511296"/>
            <a:ext cx="530352" cy="530352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570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Conectividad y redes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8444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App multi-contenedor en red aislada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88536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407408"/>
            <a:ext cx="530352" cy="530352"/>
          </a:xfrm>
          <a:prstGeom prst="ellipse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45312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Persistencia y respaldo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4805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Volumen + respaldo restaurado · inicia mini-proyecto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84648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303520"/>
            <a:ext cx="530352" cy="530352"/>
          </a:xfrm>
          <a:prstGeom prst="ellipse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3492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529"/>
                </a:solidFill>
                <a:latin typeface="Helvetica Neue"/>
              </a:rPr>
              <a:t>Portabilidad y orquestación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7667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Mini-proyecto: local → nube + demo Kubernetes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9904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B32D2D"/>
                </a:solidFill>
                <a:latin typeface="Helvetica Neue"/>
              </a:rPr>
              <a:t>🔒 Eje transversal en las 5 sesiones: buenas prácticas de seguridad de contenedores.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60 minutos · Play with Docker · en parejas o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1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12344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A651"/>
                </a:solidFill>
                <a:latin typeface="Helvetica Neue"/>
              </a:rPr>
              <a:t>Parte 1 · Tu primer contenedor (20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Entra a Play with Docker, corre hello-world y luego un servidor web nginx real con puerto publicado. Míralo responder en el navegador.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82296" cy="12344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729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8A8A"/>
                </a:solidFill>
                <a:latin typeface="Helvetica Neue"/>
              </a:rPr>
              <a:t>Parte 2 · Explora y comprueba lo efímero (25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Entra a un contenedor de Ubuntu, crea un archivo, destrúyelo y comprueba que el archivo se fue. Verifica el sello de imagen oficial en Docker Hub antes de cada pull.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34840"/>
            <a:ext cx="82296" cy="1234440"/>
          </a:xfrm>
          <a:prstGeom prst="rect">
            <a:avLst/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445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6A2E8F"/>
                </a:solidFill>
                <a:latin typeface="Helvetica Neue"/>
              </a:rPr>
              <a:t>Parte 3 · Bitácora — tu entregable (15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103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Documenta comandos, capturas y 3 reflexiones en la plantilla de bitácora. Es la evidencia práctica de la sesión y se entrega al cierre.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Entregable de la S1: primer contenedor corriendo (captura) + bitácora diligenciada.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3DA5"/>
              </a:gs>
              <a:gs pos="100000">
                <a:srgbClr val="00A651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Las 3 ideas que te llevas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6265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1B4B"/>
                </a:solidFill>
                <a:latin typeface="Helvetica Neue"/>
              </a:rPr>
              <a:t>1 ·  El contenedor empaca la aplicación con todo lo suyo: corre idéntica en local y en la nube.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6732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86784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1B4B"/>
                </a:solidFill>
                <a:latin typeface="Helvetica Neue"/>
              </a:rPr>
              <a:t>2 ·  La imagen es la receta (inmutable); el contenedor es la instancia viva (efímera).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91456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1091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D1B4B"/>
                </a:solidFill>
                <a:latin typeface="Helvetica Neue"/>
              </a:rPr>
              <a:t>3 ·  En nube híbrida, el contenedor es la moneda de portabilidad — y siempre de imagen oficial.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Próxima sesión: construyes TU propia imagen y la publicas en Docker 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