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2100000" scaled="1"/>
          </a:gradFill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097280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UNIVERSIDAD EAN · EDUCACIÓN CONTINUA · COLPENSIONES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5000" b="1" i="0">
                <a:solidFill>
                  <a:srgbClr val="FFFFFF"/>
                </a:solidFill>
                <a:latin typeface="Helvetica Neue"/>
              </a:rPr>
              <a:t>Conectividad y Redes</a:t>
            </a:r>
          </a:p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Helvetica Neue"/>
              </a:rPr>
              <a:t>entre entornos híbridos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Helvetica Neue"/>
              </a:rPr>
              <a:t>Sesión 3 · Tus contenedores dejan de vivir solos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Helvetica Neue"/>
              </a:rPr>
              <a:t>Curso 101-EAN · Gestión de Contenedores en Entornos de Nube Híbrida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</a:rPr>
              <a:t>Docente: Jawy Andrés Romero Pinto</a:t>
            </a:r>
          </a:p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Helvetica Neue"/>
              </a:rPr>
              <a:t>MSc · Especialista en ciberseguridad y nube híbrida · LFCE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De la Sesión 2 a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Tu imagen ya viaja por el mundo — pero viaja sola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3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52578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737360"/>
            <a:ext cx="82296" cy="3017520"/>
          </a:xfrm>
          <a:prstGeom prst="rect">
            <a:avLst/>
          </a:prstGeom>
          <a:solidFill>
            <a:srgbClr val="5A6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4708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5A646E"/>
                </a:solidFill>
                <a:latin typeface="Helvetica Neue"/>
              </a:rPr>
              <a:t>Lo que ya sabes hacer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31720"/>
            <a:ext cx="47548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Construir TU imagen con un Dockerfile (S2).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Publicarla en Docker Hub y correrla donde sea (S2).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Correr contenedores sueltos con puertos (S1).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737360"/>
            <a:ext cx="507492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737360"/>
            <a:ext cx="82296" cy="3017520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847088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0A651"/>
                </a:solidFill>
                <a:latin typeface="Helvetica Neue"/>
              </a:rPr>
              <a:t>Hoy (S3)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331720"/>
            <a:ext cx="45720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212529"/>
                </a:solidFill>
                <a:latin typeface="Helvetica Neue"/>
              </a:rPr>
              <a:t>• Las apps reales son VARIOS servicios que se hablan.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Creas redes propias donde los contenedores se encuentran por NOMBRE.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Publicas al exterior SOLO lo necesario.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• 🔒 Y segmentas: la base de datos, invisible desde afuera.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07492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EF7F1"/>
          </a:solidFill>
          <a:ln w="19050">
            <a:solidFill>
              <a:srgbClr val="00A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257800"/>
            <a:ext cx="10149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50" b="1" i="0">
                <a:solidFill>
                  <a:srgbClr val="0D1B4B"/>
                </a:solidFill>
                <a:latin typeface="Helvetica Neue"/>
              </a:rPr>
              <a:t>Entregable de hoy: una aplicación multi-contenedor (blog + base de datos) corriendo en una red aislada.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Objetivos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Al final de estas 2 horas podrás…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3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106984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82296" cy="1024128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75564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A651"/>
                </a:solidFill>
                <a:latin typeface="Helvetica Neue"/>
              </a:rPr>
              <a:t>Explicar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21408"/>
            <a:ext cx="10332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12529"/>
                </a:solidFill>
                <a:latin typeface="Helvetica Neue"/>
              </a:rPr>
              <a:t>cómo se comunican los contenedores: redes, DNS interno y mapeo de puertos.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816352"/>
            <a:ext cx="106984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816352"/>
            <a:ext cx="82296" cy="1024128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9260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3DA5"/>
                </a:solidFill>
                <a:latin typeface="Helvetica Neue"/>
              </a:rPr>
              <a:t>Conectar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291840"/>
            <a:ext cx="10332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12529"/>
                </a:solidFill>
                <a:latin typeface="Helvetica Neue"/>
              </a:rPr>
              <a:t>varios contenedores en una red propia donde se encuentran por su nombre.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86784"/>
            <a:ext cx="106984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986784"/>
            <a:ext cx="82296" cy="1024128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096512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E8A8A"/>
                </a:solidFill>
                <a:latin typeface="Helvetica Neue"/>
              </a:rPr>
              <a:t>Publicar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462272"/>
            <a:ext cx="10332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12529"/>
                </a:solidFill>
                <a:latin typeface="Helvetica Neue"/>
              </a:rPr>
              <a:t>hacia el exterior únicamente los puertos que el servicio necesita exponer.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57216"/>
            <a:ext cx="10698480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157216"/>
            <a:ext cx="82296" cy="1024128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266944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B32D2D"/>
                </a:solidFill>
                <a:latin typeface="Helvetica Neue"/>
              </a:rPr>
              <a:t>Aislar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632704"/>
            <a:ext cx="10332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212529"/>
                </a:solidFill>
                <a:latin typeface="Helvetica Neue"/>
              </a:rPr>
              <a:t>los servicios sensibles: la base de datos accesible para la app, invisible para el mundo.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Una aplicación real nunca es UN contenedor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El patrón de toda app moderna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3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10312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340864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🌐 WEB</a:t>
            </a:r>
          </a:p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Helvetica Neue"/>
              </a:rPr>
              <a:t>lo que ve el usuario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210312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2340864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⚙️ API</a:t>
            </a:r>
          </a:p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Helvetica Neue"/>
              </a:rPr>
              <a:t>la lógica de negocio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210312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6A2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2340864"/>
            <a:ext cx="21945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🗄️ BASE DE DATOS</a:t>
            </a:r>
          </a:p>
          <a:p>
            <a:pPr algn="ctr">
              <a:spcAft>
                <a:spcPts val="400"/>
              </a:spcAft>
            </a:pPr>
            <a:r>
              <a:rPr sz="950" b="0" i="0">
                <a:solidFill>
                  <a:srgbClr val="FFFFFF"/>
                </a:solidFill>
                <a:latin typeface="Helvetica Neue"/>
              </a:rPr>
              <a:t>los datos</a:t>
            </a:r>
          </a:p>
        </p:txBody>
      </p:sp>
      <p:sp>
        <p:nvSpPr>
          <p:cNvPr id="15" name="Left-Right Arrow 14"/>
          <p:cNvSpPr/>
          <p:nvPr/>
        </p:nvSpPr>
        <p:spPr>
          <a:xfrm>
            <a:off x="3154680" y="2395728"/>
            <a:ext cx="1737360" cy="329184"/>
          </a:xfrm>
          <a:prstGeom prst="leftRightArrow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Left-Right Arrow 15"/>
          <p:cNvSpPr/>
          <p:nvPr/>
        </p:nvSpPr>
        <p:spPr>
          <a:xfrm>
            <a:off x="7178040" y="2395728"/>
            <a:ext cx="1737360" cy="329184"/>
          </a:xfrm>
          <a:prstGeom prst="leftRightArrow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50" b="1" i="0">
                <a:solidFill>
                  <a:srgbClr val="0D1B4B"/>
                </a:solidFill>
                <a:latin typeface="Helvetica Neue"/>
              </a:rPr>
              <a:t>Separadas por diseño (S2: una imagen, una responsabilidad) — pero entonces… ¿cómo se encuentran?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6908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97096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D1B4B"/>
                </a:solidFill>
                <a:latin typeface="Helvetica Neue"/>
              </a:rPr>
              <a:t>¿Cómo sabe la web dónde está la base de datos?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197096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46E"/>
                </a:solidFill>
                <a:latin typeface="Helvetica Neue"/>
              </a:rPr>
              <a:t>Las IPs de los contenedores cambian en cada arranque.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782312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91032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D1B4B"/>
                </a:solidFill>
                <a:latin typeface="Helvetica Neue"/>
              </a:rPr>
              <a:t>¿Quién puede hablar con quién?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91032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46E"/>
                </a:solidFill>
                <a:latin typeface="Helvetica Neue"/>
              </a:rPr>
              <a:t>La BD no debería ser alcanzable desde Internet — nunca.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495544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6235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D1B4B"/>
                </a:solidFill>
                <a:latin typeface="Helvetica Neue"/>
              </a:rPr>
              <a:t>¿Qué se expone al exterior?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62356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46E"/>
                </a:solidFill>
                <a:latin typeface="Helvetica Neue"/>
              </a:rPr>
              <a:t>Solo la puerta de entrada; el resto es tráfico interno.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227064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 i="1">
                <a:solidFill>
                  <a:srgbClr val="00A651"/>
                </a:solidFill>
                <a:latin typeface="Helvetica Neue"/>
              </a:rPr>
              <a:t>Las tres preguntas tienen la misma respuesta: redes de contenedores.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Lo que pasa cuando haces docker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La red bridge por defecto — y por qué no basta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3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53949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5A64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0195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5A646E"/>
                </a:solidFill>
                <a:latin typeface="Helvetica Neue"/>
              </a:rPr>
              <a:t>Red «bridge» (la de fábrica)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377440"/>
            <a:ext cx="1463040" cy="777240"/>
          </a:xfrm>
          <a:prstGeom prst="roundRect">
            <a:avLst>
              <a:gd name="adj" fmla="val 6000"/>
            </a:avLst>
          </a:prstGeom>
          <a:solidFill>
            <a:srgbClr val="5A6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656332"/>
            <a:ext cx="1463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Helvetica Neue"/>
              </a:rPr>
              <a:t>web
172.17.0.2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1760" y="2377440"/>
            <a:ext cx="1463040" cy="777240"/>
          </a:xfrm>
          <a:prstGeom prst="roundRect">
            <a:avLst>
              <a:gd name="adj" fmla="val 6000"/>
            </a:avLst>
          </a:prstGeom>
          <a:solidFill>
            <a:srgbClr val="5A6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2656332"/>
            <a:ext cx="1463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Helvetica Neue"/>
              </a:rPr>
              <a:t>db
172.17.0.3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377440"/>
            <a:ext cx="1463040" cy="777240"/>
          </a:xfrm>
          <a:prstGeom prst="roundRect">
            <a:avLst>
              <a:gd name="adj" fmla="val 6000"/>
            </a:avLst>
          </a:prstGeom>
          <a:solidFill>
            <a:srgbClr val="5A6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2656332"/>
            <a:ext cx="1463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Helvetica Neue"/>
              </a:rPr>
              <a:t>otro
172.17.0.4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83280"/>
            <a:ext cx="5029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• Todos los contenedores caen aquí juntos, revueltos.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• Solo se alcanzan por IP — y la IP cambia en cada arranque.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• Sin resolución por nombre: «web» no sabe quién es «db».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• Cero segmentación: cualquier contenedor ve a cualquier otro.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783080"/>
            <a:ext cx="493776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1783080"/>
            <a:ext cx="82296" cy="3291840"/>
          </a:xfrm>
          <a:prstGeom prst="rect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18928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C77700"/>
                </a:solidFill>
                <a:latin typeface="Helvetica Neue"/>
              </a:rPr>
              <a:t>El diagnóstico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377440"/>
            <a:ext cx="44348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La red de fábrica sirve para el contenedor suelto de la S1.</a:t>
            </a:r>
          </a:p>
          <a:p>
            <a:pPr algn="l">
              <a:spcAft>
                <a:spcPts val="8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Para una aplicación de varios servicios necesitas: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212529"/>
                </a:solidFill>
                <a:latin typeface="Helvetica Neue"/>
              </a:rPr>
              <a:t>1. Nombres estables (DNS interno)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212529"/>
                </a:solidFill>
                <a:latin typeface="Helvetica Neue"/>
              </a:rPr>
              <a:t>2. Aislamiento entre grupos de contenedores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12529"/>
                </a:solidFill>
                <a:latin typeface="Helvetica Neue"/>
              </a:rPr>
              <a:t>3. Control de qué se expone afuera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4924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00A651"/>
                </a:solidFill>
                <a:latin typeface="Helvetica Neue"/>
              </a:rPr>
              <a:t>La solución: crear TUS redes. Una línea de comando — y las tres cosas llegan solas.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Redes definidas por ti: el superpoder del DNS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docker network create — y los contenedores se llaman por su nombre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3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698480" cy="146304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856232"/>
            <a:ext cx="1019556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500">
                <a:solidFill>
                  <a:srgbClr val="6ED38B"/>
                </a:solidFill>
                <a:latin typeface="Menlo"/>
              </a:rPr>
              <a:t>docker network create ean-net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D8E6F3"/>
                </a:solidFill>
                <a:latin typeface="Menlo"/>
              </a:rPr>
              <a:t>docker run -d --name db  --network ean-net mysql:8.0</a:t>
            </a:r>
          </a:p>
          <a:p>
            <a:pPr>
              <a:spcAft>
                <a:spcPts val="300"/>
              </a:spcAft>
            </a:pPr>
            <a:r>
              <a:rPr sz="1500">
                <a:solidFill>
                  <a:srgbClr val="D8E6F3"/>
                </a:solidFill>
                <a:latin typeface="Menlo"/>
              </a:rPr>
              <a:t>docker run -d --name blog --network ean-net -p 8080:80 wordpress:6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66751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7940">
            <a:solidFill>
              <a:srgbClr val="00A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47872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0A651"/>
                </a:solidFill>
                <a:latin typeface="Helvetica Neue"/>
              </a:rPr>
              <a:t>🕸️ Red «ean-net» (tuya, aislada)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4069080"/>
            <a:ext cx="2011680" cy="1005840"/>
          </a:xfrm>
          <a:prstGeom prst="roundRect">
            <a:avLst>
              <a:gd name="adj" fmla="val 6000"/>
            </a:avLst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352544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blog</a:t>
            </a:r>
          </a:p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Helvetica Neue"/>
              </a:rPr>
              <a:t>wordpress:6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4069080"/>
            <a:ext cx="2011680" cy="1005840"/>
          </a:xfrm>
          <a:prstGeom prst="roundRect">
            <a:avLst>
              <a:gd name="adj" fmla="val 6000"/>
            </a:avLst>
          </a:prstGeom>
          <a:solidFill>
            <a:srgbClr val="6A2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4352544"/>
            <a:ext cx="2011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</a:rPr>
              <a:t>db</a:t>
            </a:r>
          </a:p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Helvetica Neue"/>
              </a:rPr>
              <a:t>mysql:8.0</a:t>
            </a:r>
          </a:p>
        </p:txBody>
      </p:sp>
      <p:sp>
        <p:nvSpPr>
          <p:cNvPr id="17" name="Left-Right Arrow 16"/>
          <p:cNvSpPr/>
          <p:nvPr/>
        </p:nvSpPr>
        <p:spPr>
          <a:xfrm>
            <a:off x="3291840" y="4407408"/>
            <a:ext cx="1371600" cy="329184"/>
          </a:xfrm>
          <a:prstGeom prst="leftRightArrow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27248" y="4041648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00A651"/>
                </a:solidFill>
                <a:latin typeface="Helvetica Neue"/>
              </a:rPr>
              <a:t>se hablan como «db»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3429000"/>
            <a:ext cx="3749039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80960" y="3429000"/>
            <a:ext cx="82296" cy="237744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9560" y="3538728"/>
            <a:ext cx="3383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E8A8A"/>
                </a:solidFill>
                <a:latin typeface="Helvetica Neue"/>
              </a:rPr>
              <a:t>Qué acaba de pasar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3931920"/>
            <a:ext cx="32918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• Docker montó un DNS interno en tu red.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• «db» resuelve SIEMPRE al contenedor db, cambie o no su IP.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12529"/>
                </a:solidFill>
                <a:latin typeface="Helvetica Neue"/>
              </a:rPr>
              <a:t>• La app se configura con nombres, no con IPs.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Puertos: la puerta entre dos mundos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Dentro de la red todo fluye; hacia afuera, solo lo que TÚ publicas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3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3017520"/>
          </a:xfrm>
          <a:prstGeom prst="roundRect">
            <a:avLst>
              <a:gd name="adj" fmla="val 6000"/>
            </a:avLst>
          </a:prstGeom>
          <a:solidFill>
            <a:srgbClr val="EEF7F1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A646E"/>
                </a:solidFill>
                <a:latin typeface="Helvetica Neue"/>
              </a:rPr>
              <a:t>EL HOST (Play with Docker, tu Mac, una VM de Azure…)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331720"/>
            <a:ext cx="76809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A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423160"/>
            <a:ext cx="7223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A651"/>
                </a:solidFill>
                <a:latin typeface="Helvetica Neue"/>
              </a:rPr>
              <a:t>red ean-net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2880360"/>
            <a:ext cx="2103120" cy="1188720"/>
          </a:xfrm>
          <a:prstGeom prst="roundRect">
            <a:avLst>
              <a:gd name="adj" fmla="val 6000"/>
            </a:avLst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3255264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blog</a:t>
            </a:r>
          </a:p>
          <a:p>
            <a:pPr algn="ctr">
              <a:spcAft>
                <a:spcPts val="400"/>
              </a:spcAft>
            </a:pPr>
            <a:r>
              <a:rPr sz="950" b="0" i="0">
                <a:solidFill>
                  <a:srgbClr val="FFFFFF"/>
                </a:solidFill>
                <a:latin typeface="Helvetica Neue"/>
              </a:rPr>
              <a:t>escucha :80
adentro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880360"/>
            <a:ext cx="2103120" cy="1188720"/>
          </a:xfrm>
          <a:prstGeom prst="roundRect">
            <a:avLst>
              <a:gd name="adj" fmla="val 6000"/>
            </a:avLst>
          </a:prstGeom>
          <a:solidFill>
            <a:srgbClr val="6A2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255264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db</a:t>
            </a:r>
          </a:p>
          <a:p>
            <a:pPr algn="ctr">
              <a:spcAft>
                <a:spcPts val="400"/>
              </a:spcAft>
            </a:pPr>
            <a:r>
              <a:rPr sz="950" b="0" i="0">
                <a:solidFill>
                  <a:srgbClr val="FFFFFF"/>
                </a:solidFill>
                <a:latin typeface="Helvetica Neue"/>
              </a:rPr>
              <a:t>escucha :3306
adentro</a:t>
            </a:r>
          </a:p>
        </p:txBody>
      </p:sp>
      <p:sp>
        <p:nvSpPr>
          <p:cNvPr id="17" name="Left-Right Arrow 16"/>
          <p:cNvSpPr/>
          <p:nvPr/>
        </p:nvSpPr>
        <p:spPr>
          <a:xfrm>
            <a:off x="3657600" y="3291840"/>
            <a:ext cx="2468880" cy="365760"/>
          </a:xfrm>
          <a:prstGeom prst="leftRightArrow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926080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 i="0">
                <a:solidFill>
                  <a:srgbClr val="00A651"/>
                </a:solidFill>
                <a:latin typeface="Helvetica Neue"/>
              </a:rPr>
              <a:t>tráfico interno libre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64040" y="3017520"/>
            <a:ext cx="1600200" cy="914400"/>
          </a:xfrm>
          <a:prstGeom prst="roundRect">
            <a:avLst>
              <a:gd name="adj" fmla="val 6000"/>
            </a:avLst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3200400"/>
            <a:ext cx="1600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</a:rPr>
              <a:t>-p 8080:80
🚪 puerta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14600" y="4069080"/>
            <a:ext cx="0" cy="576072"/>
          </a:xfrm>
          <a:prstGeom prst="line">
            <a:avLst/>
          </a:prstGeom>
          <a:ln w="31750">
            <a:solidFill>
              <a:srgbClr val="00A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514600" y="4645152"/>
            <a:ext cx="7726680" cy="0"/>
          </a:xfrm>
          <a:prstGeom prst="line">
            <a:avLst/>
          </a:prstGeom>
          <a:ln w="31750">
            <a:solidFill>
              <a:srgbClr val="00A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241280" y="3931920"/>
            <a:ext cx="0" cy="713232"/>
          </a:xfrm>
          <a:prstGeom prst="line">
            <a:avLst/>
          </a:prstGeom>
          <a:ln w="31750">
            <a:solidFill>
              <a:srgbClr val="00A6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754880" y="468172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1">
                <a:solidFill>
                  <a:srgbClr val="00A651"/>
                </a:solidFill>
                <a:latin typeface="Helvetica Neue"/>
              </a:rPr>
              <a:t>el visitante entra por aquí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029200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0D1B4B"/>
                </a:solidFill>
                <a:latin typeface="Helvetica Neue"/>
              </a:rPr>
              <a:t>-p 8080:80  →  «el puerto 8080 del host lleva al 80 del contenedor». Sin -p, NO hay puerta: el servicio existe solo dentro de la red.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12529"/>
                </a:solidFill>
                <a:latin typeface="Helvetica Neue"/>
              </a:rPr>
              <a:t>EXPOSE (S2) solo documenta; -p publica de verdad. La db de hoy NO lleva -p — y esa ausencia es una decisión de seguridad.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🔒 Eje de seguridad · S3: aislar es proteger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La segmentación de red — en contenedores y en la entidad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3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667512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D1B4B"/>
                </a:solidFill>
                <a:latin typeface="Helvetica Neue"/>
              </a:rPr>
              <a:t>La arquitectura segura de hoy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2286000"/>
            <a:ext cx="6126480" cy="1463040"/>
          </a:xfrm>
          <a:prstGeom prst="roundRect">
            <a:avLst>
              <a:gd name="adj" fmla="val 6000"/>
            </a:avLst>
          </a:prstGeom>
          <a:solidFill>
            <a:srgbClr val="EEF7F1"/>
          </a:solidFill>
          <a:ln w="22860">
            <a:solidFill>
              <a:srgbClr val="00A6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359152"/>
            <a:ext cx="5760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00A651"/>
                </a:solidFill>
                <a:latin typeface="Helvetica Neue"/>
              </a:rPr>
              <a:t>red ean-net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2697480"/>
            <a:ext cx="1828800" cy="868680"/>
          </a:xfrm>
          <a:prstGeom prst="roundRect">
            <a:avLst>
              <a:gd name="adj" fmla="val 6000"/>
            </a:avLst>
          </a:prstGeom>
          <a:solidFill>
            <a:srgbClr val="1D6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2912364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blog</a:t>
            </a:r>
          </a:p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Helvetica Neue"/>
              </a:rPr>
              <a:t>-p 8080:80 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2697480"/>
            <a:ext cx="1828800" cy="868680"/>
          </a:xfrm>
          <a:prstGeom prst="roundRect">
            <a:avLst>
              <a:gd name="adj" fmla="val 6000"/>
            </a:avLst>
          </a:prstGeom>
          <a:solidFill>
            <a:srgbClr val="6A2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2912364"/>
            <a:ext cx="1828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Helvetica Neue"/>
              </a:rPr>
              <a:t>db</a:t>
            </a:r>
          </a:p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FFFFFF"/>
                </a:solidFill>
                <a:latin typeface="Helvetica Neue"/>
              </a:rPr>
              <a:t>sin -p 🔒</a:t>
            </a:r>
          </a:p>
        </p:txBody>
      </p:sp>
      <p:sp>
        <p:nvSpPr>
          <p:cNvPr id="17" name="Left-Right Arrow 16"/>
          <p:cNvSpPr/>
          <p:nvPr/>
        </p:nvSpPr>
        <p:spPr>
          <a:xfrm>
            <a:off x="3246120" y="2971800"/>
            <a:ext cx="1600200" cy="320040"/>
          </a:xfrm>
          <a:prstGeom prst="leftRightArrow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05840" y="3931920"/>
            <a:ext cx="61264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B32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041648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B32D2D"/>
                </a:solidFill>
                <a:latin typeface="Helvetica Neue"/>
              </a:rPr>
              <a:t>🌍 Internet / otras redes del host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12529"/>
                </a:solidFill>
                <a:latin typeface="Helvetica Neue"/>
              </a:rPr>
              <a:t>Solo alcanza el 8080 del blog. La db no tiene puerta: no existe para el exterior.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1783080"/>
            <a:ext cx="3749039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0" y="1783080"/>
            <a:ext cx="82296" cy="3931920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1892808"/>
            <a:ext cx="33832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B32D2D"/>
                </a:solidFill>
                <a:latin typeface="Helvetica Neue"/>
              </a:rPr>
              <a:t>Los 3 principios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377440"/>
            <a:ext cx="32918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1" i="0">
                <a:solidFill>
                  <a:srgbClr val="212529"/>
                </a:solidFill>
                <a:latin typeface="Helvetica Neue"/>
              </a:rPr>
              <a:t>1 · Mínima exposición: publica SOLO la puerta de entrada.</a:t>
            </a:r>
          </a:p>
          <a:p>
            <a:pPr algn="l">
              <a:spcAft>
                <a:spcPts val="900"/>
              </a:spcAft>
            </a:pPr>
            <a:r>
              <a:rPr sz="1250" b="1" i="0">
                <a:solidFill>
                  <a:srgbClr val="212529"/>
                </a:solidFill>
                <a:latin typeface="Helvetica Neue"/>
              </a:rPr>
              <a:t>2 · Segmentación: cada app en SU red; front y back separados si crece.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212529"/>
                </a:solidFill>
                <a:latin typeface="Helvetica Neue"/>
              </a:rPr>
              <a:t>3 · Nada de datos al aire: la BD jamás con puerto público — ni en el lab, ni en Colpensiones.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La app de hoy: un blog con base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WordPress + MySQL — dos imágenes oficiales, una red tuya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3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698480" cy="1965960"/>
          </a:xfrm>
          <a:prstGeom prst="roundRect">
            <a:avLst>
              <a:gd name="adj" fmla="val 6000"/>
            </a:avLst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856232"/>
            <a:ext cx="101955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6ED38B"/>
                </a:solidFill>
                <a:latin typeface="Menlo"/>
              </a:rPr>
              <a:t>docker network create ean-net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D8E6F3"/>
                </a:solidFill>
                <a:latin typeface="Menlo"/>
              </a:rPr>
              <a:t/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D8E6F3"/>
                </a:solidFill>
                <a:latin typeface="Menlo"/>
              </a:rPr>
              <a:t>docker run -d --name db --network ean-net \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D8E6F3"/>
                </a:solidFill>
                <a:latin typeface="Menlo"/>
              </a:rPr>
              <a:t>  -e MYSQL_ROOT_PASSWORD=... -e MYSQL_DATABASE=wordpress ... mysql:8.0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D8E6F3"/>
                </a:solidFill>
                <a:latin typeface="Menlo"/>
              </a:rPr>
              <a:t/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D8E6F3"/>
                </a:solidFill>
                <a:latin typeface="Menlo"/>
              </a:rPr>
              <a:t>docker run -d --name blog --network ean-net -p 8080:80 \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6ED38B"/>
                </a:solidFill>
                <a:latin typeface="Menlo"/>
              </a:rPr>
              <a:t>  -e WORDPRESS_DB_HOST=db ... wordpress:6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05655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0A651"/>
                </a:solidFill>
                <a:latin typeface="Helvetica Neue"/>
              </a:rPr>
              <a:t>El blog encuentra la BD como «db»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105655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12529"/>
                </a:solidFill>
                <a:latin typeface="Helvetica Neue"/>
              </a:rPr>
              <a:t>WORDPRESS_DB_HOST=db — el DNS de tu red hace el resto. Ni una IP en la configuración.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690871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18887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E8A8A"/>
                </a:solidFill>
                <a:latin typeface="Helvetica Neue"/>
              </a:rPr>
              <a:t>Variables de entorno = configuración al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818887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12529"/>
                </a:solidFill>
                <a:latin typeface="Helvetica Neue"/>
              </a:rPr>
              <a:t>Credenciales y nombres se inyectan al arrancar, no se hornean en la imagen (S2 🔒). En S5: secretos bien gestionados.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404103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532119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6A2E8F"/>
                </a:solidFill>
                <a:latin typeface="Helvetica Neue"/>
              </a:rPr>
              <a:t>La BD arranca sin puerta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5532119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212529"/>
                </a:solidFill>
                <a:latin typeface="Helvetica Neue"/>
              </a:rPr>
              <a:t>mysql escucha :3306 adentro, pero sin -p nadie de afuera la toca. El blog sí, por la red compartida.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Ver la red por dentro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Las herramientas de diagnóstico que usarás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3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69848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6537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D63ED"/>
                </a:solidFill>
                <a:latin typeface="Helvetica Neue"/>
              </a:rPr>
              <a:t>docker network 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865376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Lista las redes del host — verás bridge (fábrica) y la tuya.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68880"/>
            <a:ext cx="1069848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4261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D63ED"/>
                </a:solidFill>
                <a:latin typeface="Helvetica Neue"/>
              </a:rPr>
              <a:t>docker network inspect ean-net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642616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El plano de tu red: qué contenedores tiene, sus IPs, su subred.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246120"/>
            <a:ext cx="1069848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1985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D63ED"/>
                </a:solidFill>
                <a:latin typeface="Helvetica Neue"/>
              </a:rPr>
              <a:t>docker exec blog ping 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419856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Desde el blog, ¿alcanzo a la db por su nombre? La prueba del DNS.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23360"/>
            <a:ext cx="1069848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9709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D63ED"/>
                </a:solidFill>
                <a:latin typeface="Helvetica Neue"/>
              </a:rPr>
              <a:t>docker network connect / disconnect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197096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Conecta o desconecta un contenedor de una red EN CALIENTE.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00600"/>
            <a:ext cx="1069848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97433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D63ED"/>
                </a:solidFill>
                <a:latin typeface="Helvetica Neue"/>
              </a:rPr>
              <a:t>docker logs blog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974336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Cuando algo no conecta, los logs cuentan la historia (S1).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2356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1">
                <a:solidFill>
                  <a:srgbClr val="00A651"/>
                </a:solidFill>
                <a:latin typeface="Helvetica Neue"/>
              </a:rPr>
              <a:t>Regla de diagnóstico: primero la red (¿misma red?), luego el nombre (¿ping funciona?), luego el servicio (¿logs sanos?).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Lo mismo, a escala de nube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Lo que hoy haces con docker network mañana se llama VNet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3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352044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783080"/>
            <a:ext cx="82296" cy="1463040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9280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0A651"/>
                </a:solidFill>
                <a:latin typeface="Helvetica Neue"/>
              </a:rPr>
              <a:t>Red de contenedores (hoy)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58568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docker network create ean-net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7" y="1783080"/>
            <a:ext cx="352044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07407" y="1783080"/>
            <a:ext cx="82296" cy="146304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7" y="189280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E8A8A"/>
                </a:solidFill>
                <a:latin typeface="Helvetica Neue"/>
              </a:rPr>
              <a:t>Red virtual en Azure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2258568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VNet con subredes front / back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4" y="1783080"/>
            <a:ext cx="352044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4" y="1783080"/>
            <a:ext cx="82296" cy="1463040"/>
          </a:xfrm>
          <a:prstGeom prst="rect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1894" y="1892808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C77700"/>
                </a:solidFill>
                <a:latin typeface="Helvetica Neue"/>
              </a:rPr>
              <a:t>Red virtual en AWS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4" y="2258568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VPC con subredes públicas / privadas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520440"/>
            <a:ext cx="1069848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639312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D1B4B"/>
                </a:solidFill>
                <a:latin typeface="Helvetica Neue"/>
              </a:rPr>
              <a:t>DNS interno por nombre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3639312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46E"/>
                </a:solidFill>
                <a:latin typeface="Helvetica Neue"/>
              </a:rPr>
              <a:t>Azure Private DNS · AWS Route 53 privado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178808"/>
            <a:ext cx="1069848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29768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D1B4B"/>
                </a:solidFill>
                <a:latin typeface="Helvetica Neue"/>
              </a:rPr>
              <a:t>-p: publicar solo la puerta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429768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46E"/>
                </a:solidFill>
                <a:latin typeface="Helvetica Neue"/>
              </a:rPr>
              <a:t>Load balancer / IP pública SOLO al frontend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837176"/>
            <a:ext cx="1069848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95604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D1B4B"/>
                </a:solidFill>
                <a:latin typeface="Helvetica Neue"/>
              </a:rPr>
              <a:t>BD sin puerto publicado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4956048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46E"/>
                </a:solidFill>
                <a:latin typeface="Helvetica Neue"/>
              </a:rPr>
              <a:t>Subred privada + Network Security Group / Security Group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495544"/>
            <a:ext cx="1069848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614416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0D1B4B"/>
                </a:solidFill>
                <a:latin typeface="Helvetica Neue"/>
              </a:rPr>
              <a:t>Segmentar apps en redes distintas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5614416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A646E"/>
                </a:solidFill>
                <a:latin typeface="Helvetica Neue"/>
              </a:rPr>
              <a:t>VNets/VPCs separadas, peering controlado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199632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1">
                <a:solidFill>
                  <a:srgbClr val="00A651"/>
                </a:solidFill>
                <a:latin typeface="Helvetica Neue"/>
              </a:rPr>
              <a:t>Los conceptos que practicas hoy son los MISMOS que gobiernan la red de la entidad en Azure — solo cambia la escala.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Los comandos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Se suman a los de las sesiones 1 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3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4592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9222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D63ED"/>
                </a:solidFill>
                <a:latin typeface="Helvetica Neue"/>
              </a:rPr>
              <a:t>docker network create &lt;red&gt;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79222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Crea tu red con DNS interno incluido.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59152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05456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D63ED"/>
                </a:solidFill>
                <a:latin typeface="Helvetica Neue"/>
              </a:rPr>
              <a:t>docker run --network &lt;red&gt; --name &lt;n&gt; 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505456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Arranca el contenedor DENTRO de tu red, con nombre estable.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72384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1868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D63ED"/>
                </a:solidFill>
                <a:latin typeface="Helvetica Neue"/>
              </a:rPr>
              <a:t>docker network ls / inspect &lt;red&gt;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2186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Lista redes / muestra el plano completo de una 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85616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319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D63ED"/>
                </a:solidFill>
                <a:latin typeface="Helvetica Neue"/>
              </a:rPr>
              <a:t>docker exec &lt;c&gt; ping &lt;nombre&gt;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93192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Prueba de alcance y DNS entre contenedores.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498848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645152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D63ED"/>
                </a:solidFill>
                <a:latin typeface="Helvetica Neue"/>
              </a:rPr>
              <a:t>docker network connect &lt;red&gt; &lt;c&gt;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64515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Suma un contenedor existente a una red (en caliente).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21208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58384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D63ED"/>
                </a:solidFill>
                <a:latin typeface="Helvetica Neue"/>
              </a:rPr>
              <a:t>-e CLAVE=valor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358384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12529"/>
                </a:solidFill>
                <a:latin typeface="Helvetica Neue"/>
              </a:rPr>
              <a:t>Inyecta configuración al arrancar — credenciales fuera de la imagen. 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0" y="0"/>
            <a:ext cx="12191695" cy="146304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0D1B4B"/>
                </a:solidFill>
                <a:latin typeface="Helvetica Neue"/>
              </a:rPr>
              <a:t>El laboratorio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9264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0">
                <a:solidFill>
                  <a:srgbClr val="5A646E"/>
                </a:solidFill>
                <a:latin typeface="Helvetica Neue"/>
              </a:rPr>
              <a:t>60 minutos · Play with Docker · tu app multi-contenedor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A646E"/>
                </a:solidFill>
                <a:latin typeface="Helvetica Neue"/>
              </a:rPr>
              <a:t>101-EAN · Gestión de Contenedores en Nube Híbrida · Sesión 3</a:t>
            </a:r>
          </a:p>
        </p:txBody>
      </p:sp>
      <p:sp>
        <p:nvSpPr>
          <p:cNvPr id="7" name="Rectangle 6"/>
          <p:cNvSpPr/>
          <p:nvPr/>
        </p:nvSpPr>
        <p:spPr>
          <a:gradFill>
            <a:gsLst>
              <a:gs pos="0">
                <a:srgbClr val="00A651"/>
              </a:gs>
              <a:gs pos="100000">
                <a:srgbClr val="003DA5"/>
              </a:gs>
            </a:gsLst>
            <a:lin ang="0" scaled="1"/>
          </a:gradFill>
          <a:xfrm>
            <a:off x="9966960" y="6382512"/>
            <a:ext cx="2240280" cy="475488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0" y="645566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</a:rPr>
              <a:t>ean · educación continua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91640"/>
            <a:ext cx="106984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91640"/>
            <a:ext cx="82296" cy="1234440"/>
          </a:xfrm>
          <a:prstGeom prst="rect">
            <a:avLst/>
          </a:prstGeom>
          <a:solidFill>
            <a:srgbClr val="00A6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0136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0A651"/>
                </a:solidFill>
                <a:latin typeface="Helvetica Neue"/>
              </a:rPr>
              <a:t>Parte 1 · Redes y DNS (15 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67128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Explora la red de fábrica, crea ean-net y comprueba el superpoder: dos contenedores que se encuentran por nombre con ping — y fallan al intentarlo en la red bridge.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63240"/>
            <a:ext cx="106984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063240"/>
            <a:ext cx="82296" cy="1234440"/>
          </a:xfrm>
          <a:prstGeom prst="rect">
            <a:avLst/>
          </a:prstGeom>
          <a:solidFill>
            <a:srgbClr val="0E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17296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0E8A8A"/>
                </a:solidFill>
                <a:latin typeface="Helvetica Neue"/>
              </a:rPr>
              <a:t>Parte 2 · El blog completo (30 min)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538728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Levanta MySQL (sin puerto) y WordPress (con -p) en tu red. Instala el blog, escribe tu primer post y diagnostica la conexión con inspect, ping y logs.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34840"/>
            <a:ext cx="1069848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D5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434840"/>
            <a:ext cx="82296" cy="1234440"/>
          </a:xfrm>
          <a:prstGeom prst="rect">
            <a:avLst/>
          </a:prstGeom>
          <a:solidFill>
            <a:srgbClr val="B3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544568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B32D2D"/>
                </a:solidFill>
                <a:latin typeface="Helvetica Neue"/>
              </a:rPr>
              <a:t>Parte 3 · 🔒 Comprueba el aislamiento (15 min)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910328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12529"/>
                </a:solidFill>
                <a:latin typeface="Helvetica Neue"/>
              </a:rPr>
              <a:t>Demuestra que la db es inalcanzable desde afuera y que un contenedor «intruso» en OTRA red no la ve. Cierra con el diagrama de tu arquitectura en la bitácora.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00A651"/>
                </a:solidFill>
                <a:latin typeface="Helvetica Neue"/>
              </a:rPr>
              <a:t>Entregable de la S3: el blog vivo (captura con tu post) + evidencia del aislamiento + diagrama de la red.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gradFill>
            <a:gsLst>
              <a:gs pos="0">
                <a:srgbClr val="003DA5"/>
              </a:gs>
              <a:gs pos="100000">
                <a:srgbClr val="00A651"/>
              </a:gs>
            </a:gsLst>
            <a:lin ang="2100000" scaled="1"/>
          </a:gradFill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Helvetica Neue"/>
              </a:rPr>
              <a:t>Las 3 ideas que te llevas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606040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825496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D1B4B"/>
                </a:solidFill>
                <a:latin typeface="Helvetica Neue"/>
              </a:rPr>
              <a:t>1 ·  En tu propia red, los contenedores se encuentran por NOMBRE — nunca más una IP en la config.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630168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849624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D1B4B"/>
                </a:solidFill>
                <a:latin typeface="Helvetica Neue"/>
              </a:rPr>
              <a:t>2 ·  Sin -p no hay puerta: publica solo la entrada; el resto es tráfico interno.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654296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73752"/>
            <a:ext cx="10058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D1B4B"/>
                </a:solidFill>
                <a:latin typeface="Helvetica Neue"/>
              </a:rPr>
              <a:t>3 ·  Aislar es proteger: la base de datos vive en la red, invisible para el mundo.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80644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43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B32D2D"/>
                </a:solidFill>
                <a:latin typeface="Helvetica Neue"/>
              </a:rPr>
              <a:t>⚠️ Tarea mental para la S4: tu blog de hoy guarda los posts DENTRO del contenedor de MySQL… ¿qué pasa si ese contenedor muere?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