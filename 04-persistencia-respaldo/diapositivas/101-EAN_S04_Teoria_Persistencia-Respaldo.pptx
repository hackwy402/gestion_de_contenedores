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UNIVERSIDAD EAN · EDUCACIÓN CONTINUA · COLPENSIONES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Helvetica Neue"/>
              </a:rPr>
              <a:t>Persistencia de Datos</a:t>
            </a:r>
          </a:p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almacenamiento y respaldo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Sesión 4 · Que los datos sobrevivan a cualquier contenedor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Helvetica Neue"/>
              </a:rPr>
              <a:t>Curso 101-EAN · Gestión de Contenedores en Entornos de Nube Híbrida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Docente: Jawy Andrés Romero Pinto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Helvetica Neue"/>
              </a:rPr>
              <a:t>MSc · Especialista en ciberseguridad y nube híbrida · LFCE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La pregunta que quedó sembrada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Y el experimento cruel con el que abrimos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82296" cy="3108960"/>
          </a:xfrm>
          <a:prstGeom prst="rect">
            <a:avLst/>
          </a:prstGeom>
          <a:solidFill>
            <a:srgbClr val="5A6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A646E"/>
                </a:solidFill>
                <a:latin typeface="Helvetica Neue"/>
              </a:rPr>
              <a:t>Lo que pasó en la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Mataste el contenedor del blog… y el post sobrevivió.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Porque los datos no viven en el blog: viven en la db.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Pero la db también es un contenedor. Y todo contenedor es EFÍMERO (S1).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50749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737360"/>
            <a:ext cx="82296" cy="310896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4708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Hoy (S4)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Primero lo comprobamos: matamos la db CON los posts adentro. 💀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Luego lo arreglamos: volúmenes — datos fuera del ciclo de vida del contenedor.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Y lo blindamos: respaldo y restauración PROBADA.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🚀 Además: arranca el mini-proyecto integrador.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10149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B4B"/>
                </a:solidFill>
                <a:latin typeface="Helvetica Neue"/>
              </a:rPr>
              <a:t>Entregable de hoy: tu blog con volumen persistente + un respaldo restaurado con éxito (probado, no prometido).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Al final de estas 2 horas podrás…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82296" cy="102412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556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A651"/>
                </a:solidFill>
                <a:latin typeface="Helvetica Neue"/>
              </a:rPr>
              <a:t>Explicar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214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por qué los contenedores pierden sus datos: la capa de escritura efímera.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16352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16352"/>
            <a:ext cx="82296" cy="10241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DA5"/>
                </a:solidFill>
                <a:latin typeface="Helvetica Neue"/>
              </a:rPr>
              <a:t>Persistir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91840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los datos en volúmenes que sobreviven a la muerte de cualquier contenedor.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86784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86784"/>
            <a:ext cx="82296" cy="10241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8A8A"/>
                </a:solidFill>
                <a:latin typeface="Helvetica Neue"/>
              </a:rPr>
              <a:t>Respaldar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y restaurar la información de tus contenedores — con prueba de restauración.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57216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57216"/>
            <a:ext cx="82296" cy="102412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6694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B32D2D"/>
                </a:solidFill>
                <a:latin typeface="Helvetica Neue"/>
              </a:rPr>
              <a:t>Diseñar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32704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una estrategia mínima de respaldo (3-2-1) para una app contenerizada.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Por qué se pierden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 capa de escritura: el secreto que ya conoces desde la S2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5120640" cy="56692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CAPA DE ESCRITURA · lo que la app escribe (¡EFÍMERA!)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60320"/>
            <a:ext cx="5120640" cy="566928"/>
          </a:xfrm>
          <a:prstGeom prst="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capas de la IMAGEN · solo lectura, inmutables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00400"/>
            <a:ext cx="5120640" cy="566928"/>
          </a:xfrm>
          <a:prstGeom prst="rect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base alpine · solo lectura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1363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A646E"/>
                </a:solidFill>
                <a:latin typeface="Helvetica Neue"/>
              </a:rPr>
              <a:t>docker rm = la capa de escritura se destruye.
La imagen queda intacta; TUS DATOS 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783080"/>
            <a:ext cx="82296" cy="384048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9280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77700"/>
                </a:solidFill>
                <a:latin typeface="Helvetica Neue"/>
              </a:rPr>
              <a:t>Ya lo viviste dos veces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377440"/>
            <a:ext cx="45262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S1: /huella.txt desapareció con el contenedor.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S3: el post sobrevivió al blog… porque estaba en OTRO contenedor (la db).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Hoy: si muere la db, mueren los posts — la capa de escritura de mysql se va con ella.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77700"/>
                </a:solidFill>
                <a:latin typeface="Helvetica Neue"/>
              </a:rPr>
              <a:t>La imagen es la receta; la capa de escritura es un borrador desechable. Los datos importantes necesitan OTRA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Volúmenes: la casa de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Almacenamiento gestionado por Docker, FUERA del ciclo de vida del contenedor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56232"/>
            <a:ext cx="10195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6ED38B"/>
                </a:solidFill>
                <a:latin typeface="Menlo"/>
              </a:rPr>
              <a:t>docker volume create datos_db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D8E6F3"/>
                </a:solidFill>
                <a:latin typeface="Menlo"/>
              </a:rPr>
              <a:t>docker run -d --name db -v datos_db:/var/lib/mysql mysql:8.0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42062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29184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Helvetica Neue"/>
              </a:rPr>
              <a:t>contenedor db (mortal 💀)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749039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986783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mysql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escribe en /var/lib/mysql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5661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8862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💾 volumen datos_db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vive en el host, gestionado por Docker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5440680" y="3977639"/>
            <a:ext cx="1417320" cy="457200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361188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A651"/>
                </a:solidFill>
                <a:latin typeface="Helvetica Neue"/>
              </a:rPr>
              <a:t>-v montaje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A651"/>
                </a:solidFill>
                <a:latin typeface="Helvetica Neue"/>
              </a:rPr>
              <a:t>El contenedor muere; el volumen NO. El siguiente contenedor que lo monte encuentra los datos exactamente donde quedaron.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Volumen o carpeta del host (bind mount)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Dos formas de montar — cuándo usar cada 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82296" cy="356616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Volumen (-v nombre:/ruta)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7548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Docker lo crea y lo administra (docker volume ls).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Portable entre hosts: no depende de rutas locales.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Ideal para DATOS de la aplicación: bases de datos, archivos subidos.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El estándar en producción. El que usamos hoy.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737360"/>
            <a:ext cx="82296" cy="356616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4708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77700"/>
                </a:solidFill>
                <a:latin typeface="Helvetica Neue"/>
              </a:rPr>
              <a:t>Bind mount (-v /ruta/host:/ruta)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45720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Monta una carpeta EXACTA del host dentro del contenedor.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Perfecto en desarrollo: editas el código afuera, el contenedor lo ve al instante.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Frágil entre máquinas (la ruta debe existir) y 🔒 riesgoso si montas rutas sensibles del host.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Lo usarás hoy para SACAR el respaldo del contenedor.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Regla simple: datos de la app → volumen · archivos que tú editas o extraes → bind mount.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blog inmortal: la arquitectura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 S3 + una línea: el volumen de la base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46304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56232"/>
            <a:ext cx="101955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7E8BA0"/>
                </a:solidFill>
                <a:latin typeface="Menlo"/>
              </a:rPr>
              <a:t>docker network create ean-net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6ED38B"/>
                </a:solidFill>
                <a:latin typeface="Menlo"/>
              </a:rPr>
              <a:t>docker volume create datos_db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D8E6F3"/>
                </a:solidFill>
                <a:latin typeface="Menlo"/>
              </a:rPr>
              <a:t>docker run -d --name db --network ean-net -v datos_db:/var/lib/mysql \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D8E6F3"/>
                </a:solidFill>
                <a:latin typeface="Menlo"/>
              </a:rPr>
              <a:t>  -e MYSQL_ROOT_PASSWORD=... mysql:8.0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66751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A651"/>
                </a:solidFill>
                <a:latin typeface="Helvetica Neue"/>
              </a:rPr>
              <a:t>red ean-net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02336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06824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blog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Helvetica Neue"/>
              </a:rPr>
              <a:t>-p 8080:80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402336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4306824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db 💀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Helvetica Neue"/>
              </a:rPr>
              <a:t>mortal, como todo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977639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2062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💾 datos_db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inmortal</a:t>
            </a:r>
          </a:p>
        </p:txBody>
      </p:sp>
      <p:sp>
        <p:nvSpPr>
          <p:cNvPr id="19" name="Left-Right Arrow 18"/>
          <p:cNvSpPr/>
          <p:nvPr/>
        </p:nvSpPr>
        <p:spPr>
          <a:xfrm>
            <a:off x="6126480" y="4343400"/>
            <a:ext cx="1645920" cy="411480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00A651"/>
                </a:solidFill>
                <a:latin typeface="Helvetica Neue"/>
              </a:rPr>
              <a:t>Hoy lo pruebas: creas un post, ejecutas docker rm -f db, recreas la db… y el post sigue ahí. La app completa se vuelve desechable; los datos, 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Pero el volumen NO es un respaldo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Sobrevive al contenedor — no al host, ni al error humano, ni al ransomware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82296" cy="2286000"/>
          </a:xfrm>
          <a:prstGeom prst="rect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9280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D1B4B"/>
                </a:solidFill>
                <a:latin typeface="Helvetica Neue"/>
              </a:rPr>
              <a:t>💻 El host muere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58568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La VM se corrompe, el disco falla, Play with Docker expira: el volumen vivía AHÍ. Se fue con el barco.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7" y="1783080"/>
            <a:ext cx="82296" cy="228600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89280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77700"/>
                </a:solidFill>
                <a:latin typeface="Helvetica Neue"/>
              </a:rPr>
              <a:t>🤦 El error humano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258568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docker volume rm equivocado, un prune agresivo, un script mal apuntado. El clásico.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4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4" y="1783080"/>
            <a:ext cx="82296" cy="22860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4" y="189280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B32D2D"/>
                </a:solidFill>
                <a:latin typeface="Helvetica Neue"/>
              </a:rPr>
              <a:t>🦠 Ransomware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4" y="2258568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Si cifran el host, cifran sus volúmenes. Los datos secuestrados junto con todo lo demás.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10698480" cy="146304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10149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0D1B4B"/>
                </a:solidFill>
                <a:latin typeface="Helvetica Neue"/>
              </a:rPr>
              <a:t>La regla 3-2-1 — el mínimo profesional: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3 copias de los datos · en 2 medios distintos · 1 fuera del sitio (offsite — la nube cuenta). Y la regla de oro encima: un respaldo que nunca has restaurado NO es un respaldo — es una esperanza.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Respaldar una base de datos contenerizada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export lógico: mysqldump a través de docker exec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56232"/>
            <a:ext cx="10195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6ED38B"/>
                </a:solidFill>
                <a:latin typeface="Menlo"/>
              </a:rPr>
              <a:t>docker exec db mysqldump -u root -p"$PASS" wordpress &gt; respaldo.sql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7E8BA0"/>
                </a:solidFill>
                <a:latin typeface="Menlo"/>
              </a:rPr>
              <a:t># el estado completo del blog, en un archivo de texto en el host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1069848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7296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A651"/>
                </a:solidFill>
                <a:latin typeface="Helvetica Neue"/>
              </a:rPr>
              <a:t>Sale del contenedor, vive en el 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72968"/>
            <a:ext cx="6583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El &gt; escribe FUERA: respaldo.sql queda en tu carpeta, no en la capa efímera del contenedor.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59352"/>
            <a:ext cx="1069848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8A8A"/>
                </a:solidFill>
                <a:latin typeface="Helvetica Neue"/>
              </a:rPr>
              <a:t>Es texto: portable y versionable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069080"/>
            <a:ext cx="6583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Un .sql restaura en cualquier MySQL — otro contenedor, otra VM, otra nube. La portabilidad de siempre, ahora para los datos.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55464"/>
            <a:ext cx="1069848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6519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A2E8F"/>
                </a:solidFill>
                <a:latin typeface="Helvetica Neue"/>
              </a:rPr>
              <a:t>Para volúmenes que no son BD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965192"/>
            <a:ext cx="6583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El patrón tar: un contenedor efímero monta el volumen y lo empaca — docker run --rm -v datos:/d -v $(pwd):/b alpine tar czf /b/datos.tgz /d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9729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00A651"/>
                </a:solidFill>
                <a:latin typeface="Helvetica Neue"/>
              </a:rPr>
              <a:t>Y ese archivo se lleva OFFSITE: a Azure Blob Storage, a otro equipo — la «1» de la regla 3-2-1.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Restaurar: el momento de la verdad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Hoy simulas el desastre TOTAL — y vuelves de él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B32D2D"/>
                </a:solidFill>
                <a:latin typeface="Helvetica Neue"/>
              </a:rPr>
              <a:t>1 · DESASTRE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5A646E"/>
                </a:solidFill>
                <a:latin typeface="Helvetica Neue"/>
              </a:rPr>
              <a:t>docker rm -f db
docker volume rm datos_db
(todo perdido 💀)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0400" y="2926080"/>
            <a:ext cx="384048" cy="411480"/>
          </a:xfrm>
          <a:prstGeom prst="rightArrow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8728" y="210312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2402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C77700"/>
                </a:solidFill>
                <a:latin typeface="Helvetica Neue"/>
              </a:rPr>
              <a:t>2 · RECONSTRUIR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69748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5A646E"/>
                </a:solidFill>
                <a:latin typeface="Helvetica Neue"/>
              </a:rPr>
              <a:t>volumen nuevo +
db nueva desde la imagen
(vacía, como el día uno)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99048" y="2926080"/>
            <a:ext cx="384048" cy="411480"/>
          </a:xfrm>
          <a:prstGeom prst="rightArrow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37376" y="210312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2402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E8A8A"/>
                </a:solidFill>
                <a:latin typeface="Helvetica Neue"/>
              </a:rPr>
              <a:t>3 · RESTAURAR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69748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5A646E"/>
                </a:solidFill>
                <a:latin typeface="Helvetica Neue"/>
              </a:rPr>
              <a:t>docker exec -i db mysql \
  -u root -p"$PASS" \
  wordpress &lt; respaldo.sql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97696" y="2926080"/>
            <a:ext cx="384048" cy="411480"/>
          </a:xfrm>
          <a:prstGeom prst="rightArrow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36024" y="210312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4" y="22402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A651"/>
                </a:solidFill>
                <a:latin typeface="Helvetica Neue"/>
              </a:rPr>
              <a:t>4 · VERIFICAR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69748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5A646E"/>
                </a:solidFill>
                <a:latin typeface="Helvetica Neue"/>
              </a:rPr>
              <a:t>el blog carga y
TU POST está de vuelta
✅ respaldo PROBADO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63440"/>
            <a:ext cx="11018520" cy="118872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1B4B"/>
                </a:solidFill>
                <a:latin typeface="Helvetica Neue"/>
              </a:rPr>
              <a:t>RTO mental: ¿cuánto tardaste de «todo perdido» a «todo de vuelta»? Minutos.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Esa es la promesa de los contenedores + respaldos: la infraestructura es desechable y reconstruible; los datos, respaldados y probados.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🔒 Eje de seguridad · S4: los datos son el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Tres reglas para que el respaldo no sea el eslabón débil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129844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B32D2D"/>
                </a:solidFill>
                <a:latin typeface="Helvetica Neue"/>
              </a:rPr>
              <a:t>1 · El respaldo también es dato sensible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Un respaldo.sql contiene TODO: usuarios, correos, contenido. Se protege como la base misma: cifrado en tránsito y en reposo, acceso mínimo. Jamás en un repo público.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18104"/>
            <a:ext cx="106984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18104"/>
            <a:ext cx="82296" cy="1298448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278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77700"/>
                </a:solidFill>
                <a:latin typeface="Helvetica Neue"/>
              </a:rPr>
              <a:t>2 · Offsite y fuera del alcance del atacante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93592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El ransomware busca y cifra también los respaldos conectados. La copia offsite (Azure Blob, otra cuenta) con credenciales SEPARADAS es la que te salva. El nivel pro: almacenamiento inmutable (WORM).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44568"/>
            <a:ext cx="106984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544568"/>
            <a:ext cx="82296" cy="1298448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5429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6A2E8F"/>
                </a:solidFill>
                <a:latin typeface="Helvetica Neue"/>
              </a:rPr>
              <a:t>3 · Restauración ensayada = plan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20056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La diferencia entre backup y recuperación es haberlo PRACTICADO. Hoy lo haces por primera vez; en una entidad, se ensaya con calendario.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B32D2D"/>
                </a:solidFill>
                <a:latin typeface="Helvetica Neue"/>
              </a:rPr>
              <a:t>En ciber-recuperación esto tiene nombre: resiliencia. El que tiene respaldo probado negocia distinto frente a un incidente.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Persistencia y respaldo en la nube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mapeo híbrido de lo que hiciste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562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docker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5623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Azure: Managed Disk / Azure Files montado a la VM · AWS: EBS / EFS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334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respaldo.sql en el 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3347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Azure Blob Storage (frío y barato) · AWS S3 — la copia offsite de la 3-2-1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10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restauración manual probada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1071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Azure Backup / restore points automatizados con calendario y retención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8795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bóveda anti-ransomware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8795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Blob immutable storage (WORM) · S3 Object Lock — nadie borra ni cifra la copia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0060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651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BD contenerizada con volumen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6519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En producción real: BD gestionada (Azure Database for MySQL) — el respaldo viene incluido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00A651"/>
                </a:solidFill>
                <a:latin typeface="Helvetica Neue"/>
              </a:rPr>
              <a:t>La demo del docente hoy: el respaldo del blog subido a Azure Blob Storage — la copia offsite, de verdad.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Los comandos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 caja de herramientas de la persistencia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volume create / ls / inspect / 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922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El ciclo de vida de un volumen — independiente de todo contenedor.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915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05456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run -v &lt;volumen&gt;:/ruta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054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Monta el volumen en la ruta donde la app escribe sus datos.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7238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1868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run -v $(pwd):/ruta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186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Bind mount: una carpeta real del host dentro del contenedor.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8561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exec db mysqldump … &gt; respaldo.sql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El export lógico de la BD hacia el host.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98848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exec -i db mysql … &lt; respaldo.sql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451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La restauración (el -i es clave: alimenta el archivo por stdin).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58384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D63ED"/>
                </a:solidFill>
                <a:latin typeface="Helvetica Neue"/>
              </a:rPr>
              <a:t>docker system 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583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Cuánto ocupan imágenes, contenedores y volúmenes — FinOps local. 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🚀 Arranca el mini-proyecto integrador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Todo lo aprendido, en UNA aplicación tuya — cierre en la Sesión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2286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D1B4B"/>
                </a:solidFill>
                <a:latin typeface="Helvetica Neue"/>
              </a:rPr>
              <a:t>La consigna: una aplicación multi-contenedor (app + base de datos), en red aislada, con datos persistentes en volumen, respaldo probado y su imagen publicada en Docker Hub.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82296" cy="114300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1868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A651"/>
                </a:solidFill>
                <a:latin typeface="Helvetica Neue"/>
              </a:rPr>
              <a:t>FASE 1 · Esta semana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8444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Arma tu app (el blog del lab u otra que elijas), con red + volumen + respaldo restaurado. Documenta los comandos en tu bitácora.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82296" cy="1143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988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3DA5"/>
                </a:solidFill>
                <a:latin typeface="Helvetica Neue"/>
              </a:rPr>
              <a:t>FASE 2 · Sesión 5 (cierre)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6460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La migras: de Play with Docker a una VM de Azure (taller S3), publicando tu imagen. Demo final de 5 minutos: la app viva + la restauración en vivo.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5A646E"/>
                </a:solidFill>
                <a:latin typeface="Helvetica Neue"/>
              </a:rPr>
              <a:t>En parejas o individual. La guía completa del mini-proyecto está en el repositorio del curso (mini-proyecto.md): consigna, fases, entregables y rúbrica.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60 minutos · Play with Docker · del desastre a la resiliencia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4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123444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B32D2D"/>
                </a:solidFill>
                <a:latin typeface="Helvetica Neue"/>
              </a:rPr>
              <a:t>Parte 1 · El experimento cruel + volúmenes (15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Comprueba la pérdida: blog sin volumen, post, rm de la db… todo perdido. Luego el fix: volumen básico con alpine y la prueba de supervivencia.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82296" cy="12344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729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A651"/>
                </a:solidFill>
                <a:latin typeface="Helvetica Neue"/>
              </a:rPr>
              <a:t>Parte 2 · El blog inmortal (25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El blog de la S3 con -v datos_db:/var/lib/mysql. Post → matar la db → recrearla montando el mismo volumen → el post sigue. La app es desechable; los datos 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34840"/>
            <a:ext cx="82296" cy="12344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445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8A8A"/>
                </a:solidFill>
                <a:latin typeface="Helvetica Neue"/>
              </a:rPr>
              <a:t>Parte 3 · Respaldo y restauración PROBADA (20 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103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mysqldump al host → desastre total (contenedor Y volumen) → reconstruir desde cero → restaurar el .sql → tu post vuelve. Cronometra tu RTO.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A651"/>
                </a:solidFill>
                <a:latin typeface="Helvetica Neue"/>
              </a:rPr>
              <a:t>Entregable de la S4: evidencias del ciclo completo (pérdida → volumen → respaldo → restauración) + tu RTO cronometrado.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3DA5"/>
              </a:gs>
              <a:gs pos="100000">
                <a:srgbClr val="00A651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Las 3 ideas que te llevas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82549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1B4B"/>
                </a:solidFill>
                <a:latin typeface="Helvetica Neue"/>
              </a:rPr>
              <a:t>1 ·  La capa de escritura muere con el contenedor: los datos importantes viven en VOLÚMENES.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30168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9624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1B4B"/>
                </a:solidFill>
                <a:latin typeface="Helvetica Neue"/>
              </a:rPr>
              <a:t>2 ·  El volumen sobrevive al contenedor — el RESPALDO sobrevive al host. Necesitas ambos.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54296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7375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1B4B"/>
                </a:solidFill>
                <a:latin typeface="Helvetica Neue"/>
              </a:rPr>
              <a:t>3 ·  Un respaldo sin restauración probada es una esperanza, no un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0644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🚀 Próxima sesión — el cierre: portabilidad local → nube, introducción a Kubernetes y la demo final de tu mini-proyecto.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