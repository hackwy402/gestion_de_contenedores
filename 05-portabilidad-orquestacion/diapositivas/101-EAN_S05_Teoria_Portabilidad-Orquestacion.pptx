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UNIVERSIDAD EAN · EDUCACIÓN CONTINUA · COLPENSIONES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Portabilidad y Orquestación</a:t>
            </a:r>
          </a:p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de Docker Compose a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Sesión 5 · CIERRE — y las demos finales del mini-proyecto 🚀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Curso 101-EAN · Gestión de Contenedores en Entornos de Nube Híbrida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Docente: Jawy Andrés Romero Pinto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Helvetica Neue"/>
              </a:rPr>
              <a:t>MSc · Especialista en ciberseguridad y nube híbrida · LFCE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camino recorrido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Cuatro sesiones — y todo apuntaba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764792"/>
            <a:ext cx="530352" cy="530352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5564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12529"/>
                </a:solidFill>
                <a:latin typeface="Helvetica Neue"/>
              </a:rPr>
              <a:t>Fundamentos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2880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Helvetica Neue"/>
              </a:rPr>
              <a:t>Corriste contenedores; entendiste imagen vs contenedor y lo efímero.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4203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660904"/>
            <a:ext cx="530352" cy="530352"/>
          </a:xfrm>
          <a:prstGeom prst="ellipse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517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12529"/>
                </a:solidFill>
                <a:latin typeface="Helvetica Neue"/>
              </a:rPr>
              <a:t>Imágenes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24912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Helvetica Neue"/>
              </a:rPr>
              <a:t>Construiste y publicaste TU imagen — con Dockerfile y sin root.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3814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557016"/>
            <a:ext cx="530352" cy="530352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4787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12529"/>
                </a:solidFill>
                <a:latin typeface="Helvetica Neue"/>
              </a:rPr>
              <a:t>Redes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621024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Helvetica Neue"/>
              </a:rPr>
              <a:t>Conectaste servicios por nombre y aislaste la BD del mundo.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453128"/>
            <a:ext cx="530352" cy="530352"/>
          </a:xfrm>
          <a:prstGeom prst="ellipse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44398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12529"/>
                </a:solidFill>
                <a:latin typeface="Helvetica Neue"/>
              </a:rPr>
              <a:t>Persistencia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17136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Helvetica Neue"/>
              </a:rPr>
              <a:t>Volúmenes + respaldo restaurado: los datos sobreviven a todo.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76088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413248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B4B"/>
                </a:solidFill>
                <a:latin typeface="Helvetica Neue"/>
              </a:rPr>
              <a:t>Hoy: la app completa como UNA unidad (Compose), la respuesta a «¿quién cuida los contenedores?» (Kubernetes) — y SUS demos finales.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Al final de estas 2 horas podrás…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82296" cy="102412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556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A651"/>
                </a:solidFill>
                <a:latin typeface="Helvetica Neue"/>
              </a:rPr>
              <a:t>Componer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214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una aplicación multi-contenedor completa en UN archivo con Docker Compose.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16352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16352"/>
            <a:ext cx="82296" cy="10241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DA5"/>
                </a:solidFill>
                <a:latin typeface="Helvetica Neue"/>
              </a:rPr>
              <a:t>Migrar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tu app entre entornos (sandbox ↔ VM de Azure) con imágenes, compose y respaldo.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86784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86784"/>
            <a:ext cx="82296" cy="10241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8A8A"/>
                </a:solidFill>
                <a:latin typeface="Helvetica Neue"/>
              </a:rPr>
              <a:t>Explicar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qué resuelve un orquestador y los conceptos base de Kubernetes (pod, deployment, service).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57216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57216"/>
            <a:ext cx="82296" cy="1024128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6694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A2E8F"/>
                </a:solidFill>
                <a:latin typeface="Helvetica Neue"/>
              </a:rPr>
              <a:t>Demostrar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32704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tu mini-proyecto integrador: la app viva y la restauración en vivo. 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problema: tu app vive en tu historial de comandos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Seis líneas por servicio, en orden, de memoria… no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21031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37944"/>
            <a:ext cx="10195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1300">
                <a:solidFill>
                  <a:srgbClr val="7E8BA0"/>
                </a:solidFill>
                <a:latin typeface="Menlo"/>
              </a:rPr>
              <a:t>docker network create ean-net</a:t>
            </a:r>
          </a:p>
          <a:p>
            <a:pPr>
              <a:spcAft>
                <a:spcPts val="250"/>
              </a:spcAft>
            </a:pPr>
            <a:r>
              <a:rPr sz="1300">
                <a:solidFill>
                  <a:srgbClr val="7E8BA0"/>
                </a:solidFill>
                <a:latin typeface="Menlo"/>
              </a:rPr>
              <a:t>docker volume create datos_db</a:t>
            </a:r>
          </a:p>
          <a:p>
            <a:pPr>
              <a:spcAft>
                <a:spcPts val="250"/>
              </a:spcAft>
            </a:pPr>
            <a:r>
              <a:rPr sz="1300">
                <a:solidFill>
                  <a:srgbClr val="7E8BA0"/>
                </a:solidFill>
                <a:latin typeface="Menlo"/>
              </a:rPr>
              <a:t>docker run -d --name db --network ean-net -v datos_db:/var/lib/mysql \</a:t>
            </a:r>
          </a:p>
          <a:p>
            <a:pPr>
              <a:spcAft>
                <a:spcPts val="250"/>
              </a:spcAft>
            </a:pPr>
            <a:r>
              <a:rPr sz="1300">
                <a:solidFill>
                  <a:srgbClr val="7E8BA0"/>
                </a:solidFill>
                <a:latin typeface="Menlo"/>
              </a:rPr>
              <a:t>   -e MYSQL_ROOT_PASSWORD=... -e MYSQL_DATABASE=... mysql:8.0</a:t>
            </a:r>
          </a:p>
          <a:p>
            <a:pPr>
              <a:spcAft>
                <a:spcPts val="250"/>
              </a:spcAft>
            </a:pPr>
            <a:r>
              <a:rPr sz="1300">
                <a:solidFill>
                  <a:srgbClr val="7E8BA0"/>
                </a:solidFill>
                <a:latin typeface="Menlo"/>
              </a:rPr>
              <a:t>docker run -d --name blog --network ean-net -p 8080:80 \</a:t>
            </a:r>
          </a:p>
          <a:p>
            <a:pPr>
              <a:spcAft>
                <a:spcPts val="250"/>
              </a:spcAft>
            </a:pPr>
            <a:r>
              <a:rPr sz="1300">
                <a:solidFill>
                  <a:srgbClr val="7E8BA0"/>
                </a:solidFill>
                <a:latin typeface="Menlo"/>
              </a:rPr>
              <a:t>   -e WORDPRESS_DB_HOST=db -e ... wordpress:6</a:t>
            </a:r>
          </a:p>
          <a:p>
            <a:pPr>
              <a:spcAft>
                <a:spcPts val="250"/>
              </a:spcAft>
            </a:pPr>
            <a:r>
              <a:rPr sz="1300">
                <a:solidFill>
                  <a:srgbClr val="6ED38B"/>
                </a:solidFill>
                <a:latin typeface="Menlo"/>
              </a:rPr>
              <a:t># ¿y si son 5 servicios? ¿y si lo monta un colega? ¿y en 6 meses?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82296" cy="169164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32D2D"/>
                </a:solidFill>
                <a:latin typeface="Helvetica Neue"/>
              </a:rPr>
              <a:t>Frágil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90288"/>
            <a:ext cx="3154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Un flag olvidado (el -v de la S4…) y la app se comporta distinto. Ya lo viviste.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41148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7" y="4114800"/>
            <a:ext cx="82296" cy="169164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422452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77700"/>
                </a:solidFill>
                <a:latin typeface="Helvetica Neue"/>
              </a:rPr>
              <a:t>No versionable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590288"/>
            <a:ext cx="3154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El historial de la terminal no va en Git. La infraestructura queda en la memoria de alguien.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4" y="41148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4" y="4114800"/>
            <a:ext cx="82296" cy="1691640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4" y="422452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A2E8F"/>
                </a:solidFill>
                <a:latin typeface="Helvetica Neue"/>
              </a:rPr>
              <a:t>No portable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4" y="4590288"/>
            <a:ext cx="3154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Migrar = re-escribir los comandos a mano en el otro host. Error garantizado.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La solución es la misma jugada de la S2: convertir comandos en un ARCHIVO. El Dockerfile de la app completa.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Docker Compose: la app completa en un archivo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docker-compose.yml — el plano de TODO lo que armaste en 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6766560" cy="429768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92224"/>
            <a:ext cx="62636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1200">
                <a:solidFill>
                  <a:srgbClr val="6ED38B"/>
                </a:solidFill>
                <a:latin typeface="Menlo"/>
              </a:rPr>
              <a:t>services: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6ED38B"/>
                </a:solidFill>
                <a:latin typeface="Menlo"/>
              </a:rPr>
              <a:t>  db: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image: mysql:8.0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volumes: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  - datos_db:/var/lib/mysql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environment: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  MYSQL_ROOT_PASSWORD: Ean2026root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  MYSQL_DATABASE: wordpress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6ED38B"/>
                </a:solidFill>
                <a:latin typeface="Menlo"/>
              </a:rPr>
              <a:t>  blog: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image: wordpress:6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ports: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  - "8080:80"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environment: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  WORDPRESS_DB_HOST: db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  depends_on: [db]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6ED38B"/>
                </a:solidFill>
                <a:latin typeface="Menlo"/>
              </a:rPr>
              <a:t>volumes: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D8E6F3"/>
                </a:solidFill>
                <a:latin typeface="Menlo"/>
              </a:rPr>
              <a:t>  datos_db: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Todo lo que aprendiste, declarado: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240280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3225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A651"/>
                </a:solidFill>
                <a:latin typeface="Helvetica Neue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58775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los contenedores (S1)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990088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0723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E8A8A"/>
                </a:solidFill>
                <a:latin typeface="Helvetica Neue"/>
              </a:rPr>
              <a:t>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33756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las imágenes versionadas (S2)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739896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82219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77700"/>
                </a:solidFill>
                <a:latin typeface="Helvetica Neue"/>
              </a:rPr>
              <a:t>la 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08736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implícita: Compose crea una red propia y el DNS por nombre (S3)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489704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4572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3DA5"/>
                </a:solidFill>
                <a:latin typeface="Helvetica Neue"/>
              </a:rPr>
              <a:t>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83717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la única puerta publicada (S3)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5239512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53218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A2E8F"/>
                </a:solidFill>
                <a:latin typeface="Helvetica Neue"/>
              </a:rPr>
              <a:t>volumes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58698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los datos inmortales (S4)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La app como unidad: up, down, y de nuevo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Tres comandos para todo el ciclo 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compose up 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92224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Levanta TODO: red, volúmenes, contenedores, en orden. Una línea.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915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0545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compose 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0545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El estado de la aplicación completa.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7238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compose logs -f [servicio]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1868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Los logs de toda la app o de un servicio.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8561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compose 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9319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Baja y elimina contenedores y red — los VOLÚMENES quedan (S4). 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98848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compose down -v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4515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Baja TODO incluyendo volúmenes — solo cuando de verdad quieres borrar los datos. ⚠️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583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compose up -d --scale blog=3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358384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El adelanto de hoy: ¿y si quiero 3 blogs? …espera al final de la sesión.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7103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El down/up es la prueba de fuego de tu arquitectura: si al volver a subir los datos siguen, hiciste bien la S4.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Migrar la app: la portabilidad, de verdad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Lo que la propuesta del curso prometió — local ↔ nube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00A651"/>
                </a:solidFill>
                <a:latin typeface="Helvetica Neue"/>
              </a:rPr>
              <a:t>QUÉ VIAJA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1. Imágenes → ya están en Docker Hub (S2)
2. docker-compose.yml → un archivo de texto
3. respaldo.sql → los datos (S4)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7" y="19202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0E8A8A"/>
                </a:solidFill>
                <a:latin typeface="Helvetica Neue"/>
              </a:rPr>
              <a:t>EL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231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Cualquier host con Docker:
tu VM de Azure (taller S3),
un servidor on-premise, otra nube.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4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4" y="19202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003DA5"/>
                </a:solidFill>
                <a:latin typeface="Helvetica Neue"/>
              </a:rPr>
              <a:t>LA MIGRACIÓN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4" y="24231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scp compose + respaldo →
docker compose up -d →
restaurar el .sql → LISTO.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45152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Fíjate qué NO viaja: ningún servidor, ninguna configuración artesanal, ningún «pregúntale al que lo instaló».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Ese es el contrato de la nube híbrida que planteamos en la S1: las cargas se mueven a donde convenga — regulación, costos, picos — porque la app ya no está casada con ningún fierro. Es la Fase 2 de tu mini-proyecto.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¿Y quién cuida los contenedores?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límite de todo lo que hemos hecho: un solo host, cuidado a mano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0136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32D2D"/>
                </a:solidFill>
                <a:latin typeface="Helvetica Neue"/>
              </a:rPr>
              <a:t>Si el contenedor muere a las 3 a.m.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80136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Nadie lo reinicia hasta que TÚ llegues. (docker restart eres tú.)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7004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C77700"/>
                </a:solidFill>
                <a:latin typeface="Helvetica Neue"/>
              </a:rPr>
              <a:t>Si el HOST muere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67004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Mueren todos sus contenedores juntos. El volumen era local (S4)…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6A2E8F"/>
                </a:solidFill>
                <a:latin typeface="Helvetica Neue"/>
              </a:rPr>
              <a:t>Si llega el pico de fin de 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3872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¿Escalar? docker run × 10, a mano, y un balanceador que no tienes.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0740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Si hay que actualizar sin downtime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40740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rm y run — con un rato de servicio caído entre los 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149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B4B"/>
                </a:solidFill>
                <a:latin typeface="Helvetica Neue"/>
              </a:rPr>
              <a:t>La respuesta de la industria: el ORQUESTADOR — un sistema que vigila, repara, escala y actualiza los contenedores por ti, en un clúster de varios hosts.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Orquestar es declarar deseos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Tú dices el QUÉ; el orquestador pelea por el CÓMO, 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82296" cy="32918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8A8A"/>
                </a:solidFill>
                <a:latin typeface="Helvetica Neue"/>
              </a:rPr>
              <a:t>Tú declaras (el deseo)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«Quiero 3 réplicas de login-app:1.1,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con este límite de memoria,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expuestas en el puerto 80,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y que SIEMPRE sea así.»</a:t>
            </a:r>
          </a:p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5A646E"/>
                </a:solidFill>
                <a:latin typeface="Helvetica Neue"/>
              </a:rPr>
              <a:t>Un archivo YAML — como Compose, pero con superpoderes.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50749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82296" cy="32918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4708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El orquestador mantiene (la realidad)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4572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¿Murió una réplica? Levanta otra. Solo. A las 3 a.m. (self-healing)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¿Murió un HOST entero? Reparte sus contenedores en los demás nodos.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¿Pico de demanda? Escala de 3 a 30 con un comando (o solo).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¿Versión nueva? Rolling update: reemplaza de a poco, sin downtime.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El cambio mental: de administrar contenedores a declarar estados deseados. De imperativo a declarativo.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Kubernetes: el estándar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Cuatro conceptos — mapeados a lo que YA sabes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5564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POD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55648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La unidad mínima: uno (o pocos) contenedores que viven y mueren juntos.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55648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00A651"/>
                </a:solidFill>
                <a:latin typeface="Helvetica Neue"/>
              </a:rPr>
              <a:t>≈ tu contenedor de siempre, con papeles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6148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761488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La declaración: qué imagen, cuántas réplicas, cómo actualizar.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761488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00A651"/>
                </a:solidFill>
                <a:latin typeface="Helvetica Neue"/>
              </a:rPr>
              <a:t>≈ tu docker run… pero ×N y vigilado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6732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767328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El nombre estable y el balanceo hacia los pods (que van y vienen).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767328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00A651"/>
                </a:solidFill>
                <a:latin typeface="Helvetica Neue"/>
              </a:rPr>
              <a:t>≈ el DNS de tu red de la S3, con balanceador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7316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CLUSTER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773168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Los nodos (hosts) donde K8s reparte los pods.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773168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00A651"/>
                </a:solidFill>
                <a:latin typeface="Helvetica Neue"/>
              </a:rPr>
              <a:t>≈ varios «Play with Docker» actuando como uno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5A646E"/>
                </a:solidFill>
                <a:latin typeface="Helvetica Neue"/>
              </a:rPr>
              <a:t>En la nube no instalas Kubernetes: lo alquilas gestionado — AKS en Azure, EKS en AWS (las láminas de la S1). Hoy lo ves EN VIVO en la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Demo guiada: Kubernetes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Lo que vas a ver — con la imagen que construimos en este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01952"/>
            <a:ext cx="530352" cy="530352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83664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El deployment: login-app con 3 réplicas — un comando, tres pods.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0662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871216"/>
            <a:ext cx="530352" cy="530352"/>
          </a:xfrm>
          <a:prstGeom prst="ellipse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52928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El asesinato: matamos un pod a mano… y K8s levanta otro ANTES de que termine de contarlo. (self-healing)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7588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840480"/>
            <a:ext cx="530352" cy="530352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22192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El pico de fin de mes: scale a 10 réplicas en un segundo — y de vuelta a 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4515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809744"/>
            <a:ext cx="530352" cy="530352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91456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El service: una sola puerta estable balanceando a todos los pods — en AKS, con IP pública de Azure.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Tu papel: observar el comportamiento, no memorizar comandos. Kubernetes es un curso entero — hoy siembras el mapa mental.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🔒 Eje de seguridad · S5: los secretos, por fin bien guardados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 deuda que arrastramos desde la S2 — saldada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82296" cy="347472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Lo que hicimos en el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Contraseñas en variables de entorno, escritas en el comando (S3, S4).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Mejor que hornearlas en la imagen (S2 🔒)… pero quedan en el historial de la shell y visibles en docker inspect.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Para un lab: aceptable. Para producción: 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507492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82296" cy="347472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4708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El estándar profesional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Compose: secrets desde archivos fuera de Git (.env en .gitignore, secrets: en el YAML).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Kubernetes: objetos Secret + RBAC (quién puede leerlos).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Nube: bóvedas gestionadas — Azure Key Vault — con rotación e identidades gestionadas.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La regla: el secreto se INYECTA en runtime desde una bóveda; nunca vive en código, imagen ni YAML.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B32D2D"/>
                </a:solidFill>
                <a:latin typeface="Helvetica Neue"/>
              </a:rPr>
              <a:t>El hilo completo del curso: imagen sin secretos (S2) → env al run (S3-S4) → bóveda gestionada (el siguiente paso profesional).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35 minutos · Play with Docker · y luego, SUS 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12344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A651"/>
                </a:solidFill>
                <a:latin typeface="Helvetica Neue"/>
              </a:rPr>
              <a:t>Parte 1 · Tu primer docker-compose.yml (20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Escribe el compose del blog completo (db + blog + volumen), docker compose up -d, y la prueba de fuego: down y up de nuevo — el post sobrevive gracias al volumen (S4).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82296" cy="12344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729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8A8A"/>
                </a:solidFill>
                <a:latin typeface="Helvetica Neue"/>
              </a:rPr>
              <a:t>Parte 2 · Kubernetes guiado (15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Sigue la demo del docente en pantalla (o replica en Killercoda si quieres tocarlo): deployment, self-healing, scale. Tu misión es entender el comportamiento, no los comandos.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34840"/>
            <a:ext cx="82296" cy="1234440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445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6A2E8F"/>
                </a:solidFill>
                <a:latin typeface="Helvetica Neue"/>
              </a:rPr>
              <a:t>Parte 3 · 🚀 Demos finales del mini-proyecto (30 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103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Cinco minutos por equipo: la app viva, el diagrama, la restauración en vivo y el cierre. El resto del grupo evalúa con la rúbrica.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Entregable de la S5: tu docker-compose.yml funcionando + la demo final de tu mini-proyecto.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Hacia dónde sigue el camino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curso termina; la práctica apenas empieza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0136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Profundizar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0136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Compose avanzado, multi-stage builds, healthchecks — docs.docker.com y Play with Docker siguen gratis.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32888"/>
            <a:ext cx="106984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4261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Kubernetes en serio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42616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minikube en tu equipo → curso CKAD/CKA (Linux Foundation) → AKS con la capa gratuita de Azure.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74136"/>
            <a:ext cx="106984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8386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Seguridad de contenedores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83864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Trivy y Docker Bench (los viste en vivo), CIS Benchmarks, imágenes distroless, firma de imágenes.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15384"/>
            <a:ext cx="106984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2511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En su entidad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325112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Identificar UNA app candidata a contenerizar: la de ambientes de prueba que más duele montar. Empezar pequeño.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56632"/>
            <a:ext cx="106984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El repositorio del curso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166360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Queda público: guías, decks, talleres y el mini-proyecto — github.com/Hackwy402/gestion_de_contenedores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🚀 Las demos finales del mini-proyecto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5 minutos por equipo — el cronómetro no perdona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5 · Cierre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928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A651"/>
                </a:solidFill>
                <a:latin typeface="Helvetica Neue"/>
              </a:rPr>
              <a:t>Minuto 0-1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92808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La app VIVA: muestra la URL funcionando y presenta qué hace.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072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E8A8A"/>
                </a:solidFill>
                <a:latin typeface="Helvetica Neue"/>
              </a:rPr>
              <a:t>Minuto 1-2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07208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La arquitectura: tu diagrama — redes, contenedores, volúmenes, la única puerta.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216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32D2D"/>
                </a:solidFill>
                <a:latin typeface="Helvetica Neue"/>
              </a:rPr>
              <a:t>Minuto 2-4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21608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La restauración EN VIVO: mata la BD y tráela de vuelta con tu respaldo.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360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5"/>
                </a:solidFill>
                <a:latin typeface="Helvetica Neue"/>
              </a:rPr>
              <a:t>Minuto 4-5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36008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El cierre: qué fue lo más difícil y qué contenerizarías en tu trabajo.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50408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Rúbrica: 100 pts (ver mini-proyecto.md) + bonus por VM de Azure y no-root. Se evalúa la arquitectura, no la estética de la app.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3DA5"/>
              </a:gs>
              <a:gs pos="100000">
                <a:srgbClr val="00A651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Lo que te llevas del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29967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S1 ·  El contenedor empaca la app con todo lo suyo: corre idéntica en local y en la nube.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15767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7121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S2 ·  La imagen es la receta versionada; la infraestructura, un archivo en 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57015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12463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S3 ·  La red decide quién habla con quién; la puerta la abres TÚ — y solo la necesaria.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98263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53711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S4 ·  Los datos viven en volúmenes y se respaldan con restauración PROBADA.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239511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5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S5 ·  Y cuando la escala apriete: se declara el deseo y el orquestador lo mantiene.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Gracias por estas 5 semanas. El repositorio queda abierto — y la nube híbrida, a un docker run de distancia. 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