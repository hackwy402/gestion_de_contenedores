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2100000" scaled="1"/>
          </a:gradFill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UNIVERSIDAD EAN · EDUCACIÓN CONTINUA · COLPENSIONES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Helvetica Neue"/>
              </a:rPr>
              <a:t>Creación y Gestión de Imágenes</a:t>
            </a:r>
          </a:p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Helvetica Neue"/>
              </a:rPr>
              <a:t>despliegue local y en la nube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Sesión 2 · Tu software, empacado y listo para viajar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Helvetica Neue"/>
              </a:rPr>
              <a:t>Curso 101-EAN · Gestión de Contenedores en Entornos de Nube Híbrida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Docente: Jawy Andrés Romero Pinto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Helvetica Neue"/>
              </a:rPr>
              <a:t>MSc · Especialista en ciberseguridad y nube híbrida · LFCE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De la Sesión 1 a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El salto: de consumir imágenes a producirlas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2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2578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82296" cy="3017520"/>
          </a:xfrm>
          <a:prstGeom prst="rect">
            <a:avLst/>
          </a:prstGeom>
          <a:solidFill>
            <a:srgbClr val="5A6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470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5A646E"/>
                </a:solidFill>
                <a:latin typeface="Helvetica Neue"/>
              </a:rPr>
              <a:t>La semana pasada (S1)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12848"/>
            <a:ext cx="48920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31720"/>
            <a:ext cx="47548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Corriste contenedores desde imágenes DE OTROS (nginx, ubuntu, hello-world).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Comprobaste que el contenedor es efímero.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Aprendiste: imagen = receta · contenedor = plato servido.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737360"/>
            <a:ext cx="50749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737360"/>
            <a:ext cx="82296" cy="301752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4708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A651"/>
                </a:solidFill>
                <a:latin typeface="Helvetica Neue"/>
              </a:rPr>
              <a:t>Hoy (S2)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12848"/>
            <a:ext cx="4709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331720"/>
            <a:ext cx="45720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212529"/>
                </a:solidFill>
                <a:latin typeface="Helvetica Neue"/>
              </a:rPr>
              <a:t>• Escribes TU receta: el Dockerfile.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Construyes TU imagen y la versionas con tags.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La publicas en Docker Hub y la corres desde OTRA máquina.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🔒 Y la endureces: contenedor sin root.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7492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905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257800"/>
            <a:ext cx="10149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0D1B4B"/>
                </a:solidFill>
                <a:latin typeface="Helvetica Neue"/>
              </a:rPr>
              <a:t>Entregable de hoy: tu propia imagen publicada en Docker Hub — visible desde cualquier lugar del mundo.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Objetivos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Al final de estas 2 horas podrás…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2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82296" cy="1024128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5564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A651"/>
                </a:solidFill>
                <a:latin typeface="Helvetica Neue"/>
              </a:rPr>
              <a:t>Escribir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21408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un Dockerfile: la receta en texto plano que define tu imagen, paso a paso.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16352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816352"/>
            <a:ext cx="82296" cy="10241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9260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3DA5"/>
                </a:solidFill>
                <a:latin typeface="Helvetica Neue"/>
              </a:rPr>
              <a:t>Construir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91840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imágenes con docker build, entendiendo capas, caché y etiquetas de versión.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86784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86784"/>
            <a:ext cx="82296" cy="10241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9651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E8A8A"/>
                </a:solidFill>
                <a:latin typeface="Helvetica Neue"/>
              </a:rPr>
              <a:t>Publicar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62272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tu imagen en Docker Hub y ejecutarla desde cualquier otra máquina con un pull.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57216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157216"/>
            <a:ext cx="82296" cy="1024128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6694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B32D2D"/>
                </a:solidFill>
                <a:latin typeface="Helvetica Neue"/>
              </a:rPr>
              <a:t>Endurecer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632704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tu imagen: usuario no-root, imagen base mínima y cero secretos adentro.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¿Qué es un Dockerfile?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2</a:t>
            </a:r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114300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905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D1B4B"/>
                </a:solidFill>
                <a:latin typeface="Helvetica Neue"/>
              </a:rPr>
              <a:t>Un archivo de TEXTO PLANO con las instrucciones, en orden, para construir tu imagen: desde qué base parte, qué archivos copia, qué instala y qué comando ejecuta al arrancar.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52578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71800"/>
            <a:ext cx="82296" cy="283464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A651"/>
                </a:solidFill>
                <a:latin typeface="Helvetica Neue"/>
              </a:rPr>
              <a:t>Por qué texto plano importa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47288"/>
            <a:ext cx="48920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20440"/>
            <a:ext cx="47548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Se versiona en Git como el código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Cualquiera del equipo lo lee y lo audita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Reconstruible: misma receta → misma imagen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Documentación viva del ambiente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2578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971800"/>
            <a:ext cx="82296" cy="2834640"/>
          </a:xfrm>
          <a:prstGeom prst="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08152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77700"/>
                </a:solidFill>
                <a:latin typeface="Helvetica Neue"/>
              </a:rPr>
              <a:t>Lo que reemplaza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47288"/>
            <a:ext cx="48920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20440"/>
            <a:ext cx="47548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El manual de instalación de 20 páginas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El “pregúntale al que lo configuró”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Los servidores artesanales irrepetibles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Las diferencias entre dev, pruebas y prod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Anatomía de un Dockerfile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Las 6 instrucciones que cubren el 90% de los casos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2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106984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5564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D63ED"/>
                </a:solidFill>
                <a:latin typeface="Helvetica Neue"/>
              </a:rPr>
              <a:t>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682496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La imagen base de la que partes (siempre oficial 🔒).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75564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5A646E"/>
                </a:solidFill>
                <a:latin typeface="Helvetica Neue"/>
              </a:rPr>
              <a:t>FROM nginx:alpine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22576"/>
            <a:ext cx="106984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7802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D63ED"/>
                </a:solidFill>
                <a:latin typeface="Helvetica Neue"/>
              </a:rPr>
              <a:t>WORKDIR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04872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El directorio de trabajo dentro de la imagen.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47802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5A646E"/>
                </a:solidFill>
                <a:latin typeface="Helvetica Neue"/>
              </a:rPr>
              <a:t>WORKDIR /app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44952"/>
            <a:ext cx="106984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0040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D63ED"/>
                </a:solidFill>
                <a:latin typeface="Helvetica Neue"/>
              </a:rPr>
              <a:t>COPY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127248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Copia archivos de tu carpeta hacia la imagen.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2004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5A646E"/>
                </a:solidFill>
                <a:latin typeface="Helvetica Neue"/>
              </a:rPr>
              <a:t>COPY index.html /usr/share/nginx/html/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67328"/>
            <a:ext cx="106984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92277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D63ED"/>
                </a:solidFill>
                <a:latin typeface="Helvetica Neue"/>
              </a:rPr>
              <a:t>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849624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Ejecuta un comando DURANTE la construcción.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92277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5A646E"/>
                </a:solidFill>
                <a:latin typeface="Helvetica Neue"/>
              </a:rPr>
              <a:t>RUN apk add --no-cache curl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489704"/>
            <a:ext cx="106984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645152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D63ED"/>
                </a:solidFill>
                <a:latin typeface="Helvetica Neue"/>
              </a:rPr>
              <a:t>EXPOSE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572000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Documenta el puerto que usa la aplicación.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64515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5A646E"/>
                </a:solidFill>
                <a:latin typeface="Helvetica Neue"/>
              </a:rPr>
              <a:t>EXPOSE 80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212080"/>
            <a:ext cx="106984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675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D63ED"/>
                </a:solidFill>
                <a:latin typeface="Helvetica Neue"/>
              </a:rPr>
              <a:t>CMD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294376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El comando que corre al ARRANCAR el contenedor.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536752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5A646E"/>
                </a:solidFill>
                <a:latin typeface="Helvetica Neue"/>
              </a:rPr>
              <a:t>CMD ["nginx", "-g", "daemon off;"]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61888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1">
                <a:solidFill>
                  <a:srgbClr val="00A651"/>
                </a:solidFill>
                <a:latin typeface="Helvetica Neue"/>
              </a:rPr>
              <a:t>RUN pasa en el build (una vez); CMD pasa en el run (cada arranque). Es la confusión clásica — grábatela hoy.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Tu primer Dockerfile,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El que construirás hoy en el lab — una web servida por nginx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2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6583680" cy="39319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10512"/>
            <a:ext cx="608076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7E8BA0"/>
                </a:solidFill>
                <a:latin typeface="Menlo"/>
              </a:rPr>
              <a:t># La receta de mi-web · 101-EAN S2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D8E6F3"/>
                </a:solidFill>
                <a:latin typeface="Menlo"/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6ED38B"/>
                </a:solidFill>
                <a:latin typeface="Menlo"/>
              </a:rPr>
              <a:t>FROM nginx:alpine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7E8BA0"/>
                </a:solidFill>
                <a:latin typeface="Menlo"/>
              </a:rPr>
              <a:t># imagen base oficial y mínima (~8 MB)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D8E6F3"/>
                </a:solidFill>
                <a:latin typeface="Menlo"/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6ED38B"/>
                </a:solidFill>
                <a:latin typeface="Menlo"/>
              </a:rPr>
              <a:t>COPY index.html /usr/share/nginx/html/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7E8BA0"/>
                </a:solidFill>
                <a:latin typeface="Menlo"/>
              </a:rPr>
              <a:t># mi página reemplaza la de bienvenida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D8E6F3"/>
                </a:solidFill>
                <a:latin typeface="Menlo"/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6ED38B"/>
                </a:solidFill>
                <a:latin typeface="Menlo"/>
              </a:rPr>
              <a:t>EXPOSE 80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7E8BA0"/>
                </a:solidFill>
                <a:latin typeface="Menlo"/>
              </a:rPr>
              <a:t># documenta el puerto del servidor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D8E6F3"/>
                </a:solidFill>
                <a:latin typeface="Menlo"/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7E8BA0"/>
                </a:solidFill>
                <a:latin typeface="Menlo"/>
              </a:rPr>
              <a:t># CMD ya viene definido en nginx:alpine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7E8BA0"/>
                </a:solidFill>
                <a:latin typeface="Menlo"/>
              </a:rPr>
              <a:t># (arranca el servidor automáticamente)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7373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D1B4B"/>
                </a:solidFill>
                <a:latin typeface="Helvetica Neue"/>
              </a:rPr>
              <a:t>Léelo como una historia:</a:t>
            </a:r>
          </a:p>
        </p:txBody>
      </p:sp>
      <p:sp>
        <p:nvSpPr>
          <p:cNvPr id="12" name="Oval 11"/>
          <p:cNvSpPr/>
          <p:nvPr/>
        </p:nvSpPr>
        <p:spPr>
          <a:xfrm>
            <a:off x="7680960" y="2240280"/>
            <a:ext cx="384048" cy="384048"/>
          </a:xfrm>
          <a:prstGeom prst="ellipse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95144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Parte de nginx oficial, versión mínima</a:t>
            </a:r>
          </a:p>
        </p:txBody>
      </p:sp>
      <p:sp>
        <p:nvSpPr>
          <p:cNvPr id="14" name="Oval 13"/>
          <p:cNvSpPr/>
          <p:nvPr/>
        </p:nvSpPr>
        <p:spPr>
          <a:xfrm>
            <a:off x="7680960" y="2898648"/>
            <a:ext cx="384048" cy="384048"/>
          </a:xfrm>
          <a:prstGeom prst="ellipse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95351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Mete MI contenido adentro</a:t>
            </a:r>
          </a:p>
        </p:txBody>
      </p:sp>
      <p:sp>
        <p:nvSpPr>
          <p:cNvPr id="16" name="Oval 15"/>
          <p:cNvSpPr/>
          <p:nvPr/>
        </p:nvSpPr>
        <p:spPr>
          <a:xfrm>
            <a:off x="7680960" y="3557016"/>
            <a:ext cx="384048" cy="384048"/>
          </a:xfrm>
          <a:prstGeom prst="ellipse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61188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Declara el puerto</a:t>
            </a:r>
          </a:p>
        </p:txBody>
      </p:sp>
      <p:sp>
        <p:nvSpPr>
          <p:cNvPr id="18" name="Oval 17"/>
          <p:cNvSpPr/>
          <p:nvPr/>
        </p:nvSpPr>
        <p:spPr>
          <a:xfrm>
            <a:off x="7680960" y="4215384"/>
            <a:ext cx="384048" cy="384048"/>
          </a:xfrm>
          <a:prstGeom prst="ellipse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70248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Hereda el arranque de la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029200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00A651"/>
                </a:solidFill>
                <a:latin typeface="Helvetica Neue"/>
              </a:rPr>
              <a:t>2 instrucciones tuyas bastan: la base oficial ya hizo el trabajo pesado.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La imagen se construye por CAPAS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Y eso hace los builds rápidos y las imágenes eficientes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2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011680"/>
            <a:ext cx="5120640" cy="566928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5798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CAPA 3 · COPY index.html  (TU cambio — KBs)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51760"/>
            <a:ext cx="5120640" cy="566928"/>
          </a:xfrm>
          <a:prstGeom prst="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9806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CAPA 2 · configuración de nginx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291840"/>
            <a:ext cx="5120640" cy="566928"/>
          </a:xfrm>
          <a:prstGeom prst="rect">
            <a:avLst/>
          </a:prstGeom>
          <a:solidFill>
            <a:srgbClr val="0D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3814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CAPA 1 · base alpine (~8 MB)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1">
                <a:solidFill>
                  <a:srgbClr val="5A646E"/>
                </a:solidFill>
                <a:latin typeface="Helvetica Neue"/>
              </a:rPr>
              <a:t>Cada instrucción del Dockerfile = una capa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83080"/>
            <a:ext cx="502920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783080"/>
            <a:ext cx="82296" cy="393192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89280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8A8A"/>
                </a:solidFill>
                <a:latin typeface="Helvetica Neue"/>
              </a:rPr>
              <a:t>Lo que ganas con las capas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258568"/>
            <a:ext cx="46634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77440"/>
            <a:ext cx="45262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Caché: si una capa no cambió, Docker la reutiliza — el rebuild toma segundos.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Eficiencia: 10 imágenes basadas en alpine comparten UNA sola copia de la base.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Orden importa: lo que MÁS cambia (tu código) va al FINAL del Dockerfile.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E8A8A"/>
                </a:solidFill>
                <a:latin typeface="Helvetica Neue"/>
              </a:rPr>
              <a:t>• Hoy lo verás: el segundo build de tu imagen será casi instantáneo.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docker build: de la receta a la imagen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Un comando, tres piezas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2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100584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901952"/>
            <a:ext cx="10195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2200" b="0">
                <a:solidFill>
                  <a:srgbClr val="6ED38B"/>
                </a:solidFill>
                <a:latin typeface="Menlo"/>
              </a:rPr>
              <a:t>docker build -t mi-web:1.0 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34747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108960"/>
            <a:ext cx="82296" cy="1554480"/>
          </a:xfrm>
          <a:prstGeom prst="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186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D63ED"/>
                </a:solidFill>
                <a:latin typeface="Helvetica Neue"/>
              </a:rPr>
              <a:t>docker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84448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Construye una imagen leyendo el Dockerfile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3108960"/>
            <a:ext cx="34747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1688" y="3108960"/>
            <a:ext cx="82296" cy="155448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32186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A651"/>
                </a:solidFill>
                <a:latin typeface="Helvetica Neue"/>
              </a:rPr>
              <a:t>-t mi-web:1.0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584448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La eTiqueta: nombre y versión de tu imagen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6" y="3108960"/>
            <a:ext cx="34747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1856" y="3108960"/>
            <a:ext cx="82296" cy="1554480"/>
          </a:xfrm>
          <a:prstGeom prst="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0456" y="32186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77700"/>
                </a:solidFill>
                <a:latin typeface="Helvetica Neue"/>
              </a:rPr>
              <a:t>. (el punto)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3584448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El contexto: la carpeta con tu Dockerfile y archivos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2920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524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193792"/>
            <a:ext cx="1014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La salida del build te muestra cada capa construyéndose — y en el segundo build verás CACHED en las que no cambiaron.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Tags: el versionado de tus imágenes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nombre:etiqueta — así se identifica todo en el mundo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2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56232"/>
            <a:ext cx="10195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D8E6F3"/>
                </a:solidFill>
                <a:latin typeface="Menlo"/>
              </a:rPr>
              <a:t>  mi-web:1.0        jawy402/mi-web:1.0        registro.ean.edu/mi-web:1.0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7E8BA0"/>
                </a:solidFill>
                <a:latin typeface="Menlo"/>
              </a:rPr>
              <a:t>  local             en Docker Hub (usuario/)   en un registro privado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52578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46120"/>
            <a:ext cx="82296" cy="265176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5584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A651"/>
                </a:solidFill>
                <a:latin typeface="Helvetica Neue"/>
              </a:rPr>
              <a:t>Buenas prácticas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21608"/>
            <a:ext cx="4892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94760"/>
            <a:ext cx="4754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Versiona SIEMPRE: 1.0, 1.1, 2.0…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El tag es inmutable en tu flujo: lo que probaste es lo que despliegas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Usa tags descriptivos para variantes: 1.0-alpine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46120"/>
            <a:ext cx="52578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46120"/>
            <a:ext cx="82296" cy="265176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35584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B32D2D"/>
                </a:solidFill>
                <a:latin typeface="Helvetica Neue"/>
              </a:rPr>
              <a:t>El peligro de :latest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21608"/>
            <a:ext cx="4892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94760"/>
            <a:ext cx="4754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latest NO significa “la más reciente” — es solo el tag por defecto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Hoy latest puede ser una imagen; mañana, otra distinta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🔒 En producción: tag explícito, nunca latest a ciegas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Publicar tu imagen: el flujo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De tu terminal al mundo — lo que harás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2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24231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2432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E8A8A"/>
                </a:solidFill>
                <a:latin typeface="Helvetica Neue"/>
              </a:rPr>
              <a:t>1 ·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81528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5A646E"/>
                </a:solidFill>
                <a:latin typeface="Helvetica Neue"/>
              </a:rPr>
              <a:t>docker build
-t mi-web:1.0 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8960" y="3099816"/>
            <a:ext cx="384048" cy="384048"/>
          </a:xfrm>
          <a:prstGeom prst="rightArrow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8728" y="2514600"/>
            <a:ext cx="24231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62432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C77700"/>
                </a:solidFill>
                <a:latin typeface="Helvetica Neue"/>
              </a:rPr>
              <a:t>2 · TAG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3081528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5A646E"/>
                </a:solidFill>
                <a:latin typeface="Helvetica Neue"/>
              </a:rPr>
              <a:t>docker tag mi-web:1.0
TU-USUARIO/mi-web:1.0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07608" y="3099816"/>
            <a:ext cx="384048" cy="384048"/>
          </a:xfrm>
          <a:prstGeom prst="rightArrow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37376" y="2514600"/>
            <a:ext cx="24231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6A2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262432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6A2E8F"/>
                </a:solidFill>
                <a:latin typeface="Helvetica Neue"/>
              </a:rPr>
              <a:t>3 · 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3081528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5A646E"/>
                </a:solidFill>
                <a:latin typeface="Helvetica Neue"/>
              </a:rPr>
              <a:t>docker login
(tu cuenta del Hub)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06256" y="3099816"/>
            <a:ext cx="384048" cy="384048"/>
          </a:xfrm>
          <a:prstGeom prst="rightArrow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36024" y="2514600"/>
            <a:ext cx="24231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73184" y="262432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A651"/>
                </a:solidFill>
                <a:latin typeface="Helvetica Neue"/>
              </a:rPr>
              <a:t>4 · 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3081528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5A646E"/>
                </a:solidFill>
                <a:latin typeface="Helvetica Neue"/>
              </a:rPr>
              <a:t>docker push
TU-USUARIO/mi-web:1.0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5A646E"/>
                </a:solidFill>
                <a:latin typeface="Helvetica Neue"/>
              </a:rPr>
              <a:t>¿Por qué el paso 2? En Docker Hub tu imagen vive bajo TU usuario: el nombre completo es usuario/imagen:tag.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572000"/>
            <a:ext cx="11018520" cy="128016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905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736592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Y el momento de la verdad — en OTRA máquina: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docker run -d -p 8080:80 TU-USUARIO/mi-web:1.0   →   tu web corre en una máquina que jamás vio tu código. Eso es una imagen publicada.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Tu imagen, corriendo en cualquier parte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El mismo pull desde cualquier destino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2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78308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01168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DOCKER HUB
TU-USUARIO/mi-web:1.0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1480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79392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0D1B4B"/>
                </a:solidFill>
                <a:latin typeface="Helvetica Neue"/>
              </a:rPr>
              <a:t>🧪 Play with Docker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2803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A646E"/>
                </a:solidFill>
                <a:latin typeface="Helvetica Neue"/>
              </a:rPr>
              <a:t>donde la construiste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984248" y="2971800"/>
            <a:ext cx="4096512" cy="1143000"/>
          </a:xfrm>
          <a:prstGeom prst="line">
            <a:avLst/>
          </a:prstGeom>
          <a:ln w="25400">
            <a:solidFill>
              <a:srgbClr val="00A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57600" y="411480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4279392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0D1B4B"/>
                </a:solidFill>
                <a:latin typeface="Helvetica Neue"/>
              </a:rPr>
              <a:t>💻 El portátil de un colega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82803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A646E"/>
                </a:solidFill>
                <a:latin typeface="Helvetica Neue"/>
              </a:rPr>
              <a:t>docker pull y listo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818888" y="2971800"/>
            <a:ext cx="1261872" cy="1143000"/>
          </a:xfrm>
          <a:prstGeom prst="line">
            <a:avLst/>
          </a:prstGeom>
          <a:ln w="25400">
            <a:solidFill>
              <a:srgbClr val="00A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92240" y="411480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279392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0D1B4B"/>
                </a:solidFill>
                <a:latin typeface="Helvetica Neue"/>
              </a:rPr>
              <a:t>☁️ Azure (ACI o VM)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82803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A646E"/>
                </a:solidFill>
                <a:latin typeface="Helvetica Neue"/>
              </a:rPr>
              <a:t>la demo del docente hoy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2971800"/>
            <a:ext cx="1572768" cy="1143000"/>
          </a:xfrm>
          <a:prstGeom prst="line">
            <a:avLst/>
          </a:prstGeom>
          <a:ln w="25400">
            <a:solidFill>
              <a:srgbClr val="00A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26880" y="411480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4279392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0D1B4B"/>
                </a:solidFill>
                <a:latin typeface="Helvetica Neue"/>
              </a:rPr>
              <a:t>🖥️ Un servidor on-premise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482803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A646E"/>
                </a:solidFill>
                <a:latin typeface="Helvetica Neue"/>
              </a:rPr>
              <a:t>mismo comando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2971800"/>
            <a:ext cx="4407408" cy="1143000"/>
          </a:xfrm>
          <a:prstGeom prst="line">
            <a:avLst/>
          </a:prstGeom>
          <a:ln w="25400">
            <a:solidFill>
              <a:srgbClr val="00A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" y="57607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1">
                <a:solidFill>
                  <a:srgbClr val="00A651"/>
                </a:solidFill>
                <a:latin typeface="Helvetica Neue"/>
              </a:rPr>
              <a:t>Publicaste una vez; el mundo hace pull. La portabilidad de la S1 — pero ahora con TU software.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¿Docker Hub o un registro privado?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Dónde deben vivir las imágenes según su naturaleza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2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2578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82296" cy="3566160"/>
          </a:xfrm>
          <a:prstGeom prst="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470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D63ED"/>
                </a:solidFill>
                <a:latin typeface="Helvetica Neue"/>
              </a:rPr>
              <a:t>Docker Hub (público)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12848"/>
            <a:ext cx="48920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31720"/>
            <a:ext cx="47548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Gratis, global, perfecto para aprender y para proyectos abiertos.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Lo que subas en cuenta gratuita es PÚBLICO: cualquiera lo ve y lo baja.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Neutral: no pertenece a ninguna nube — sirve a todas.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529"/>
                </a:solidFill>
                <a:latin typeface="Helvetica Neue"/>
              </a:rPr>
              <a:t>• Hoy lo usamos para tu primera imagen (sin datos sensibles).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737360"/>
            <a:ext cx="507492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737360"/>
            <a:ext cx="82296" cy="3566160"/>
          </a:xfrm>
          <a:prstGeom prst="rect">
            <a:avLst/>
          </a:prstGeom>
          <a:solidFill>
            <a:srgbClr val="6A2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4708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A2E8F"/>
                </a:solidFill>
                <a:latin typeface="Helvetica Neue"/>
              </a:rPr>
              <a:t>Registro privado (ACR en Azure)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12848"/>
            <a:ext cx="4709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/>
            </a:r>
          </a:p>
        </p:txBody>
      </p:sp>
      <p:pic>
        <p:nvPicPr>
          <p:cNvPr id="18" name="Picture 17" descr="10105-icon-service-Container-Regis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1810512"/>
            <a:ext cx="566928" cy="566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29400" y="2395728"/>
            <a:ext cx="45720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Azure Container Registry: solo tu organización ve y usa las imágenes.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Control de acceso con las identidades corporativas (Entra ID).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Integrado con ACI, App Service y AKS para desplegar directo.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529"/>
                </a:solidFill>
                <a:latin typeface="Helvetica Neue"/>
              </a:rPr>
              <a:t>• 🔒 Para una entidad como Colpensiones: las imágenes internas SIEMPRE en registro privado.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0A651"/>
                </a:solidFill>
                <a:latin typeface="Helvetica Neue"/>
              </a:rPr>
              <a:t>Regla simple: aprender y demos → Hub público · software institucional → registro privado (ACR).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🔒 Eje de seguridad · S2: imágenes que no regalan poder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Tres hábitos desde tu primera imagen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2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82296" cy="1298448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013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B32D2D"/>
                </a:solidFill>
                <a:latin typeface="Helvetica Neue"/>
              </a:rPr>
              <a:t>1 · Usuario no-root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67128"/>
            <a:ext cx="103327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Por defecto el proceso corre como root DENTRO del contenedor. Si comprometen la app, el atacante entra con privilegios. Usa variantes unprivileged o define USER en el Dockerfile — hoy lo pruebas en el lab.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18104"/>
            <a:ext cx="1069848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118104"/>
            <a:ext cx="82296" cy="1298448"/>
          </a:xfrm>
          <a:prstGeom prst="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2783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C77700"/>
                </a:solidFill>
                <a:latin typeface="Helvetica Neue"/>
              </a:rPr>
              <a:t>2 · Imagen base mínima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93592"/>
            <a:ext cx="103327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alpine (~8 MB) o slim en vez de la imagen completa: menos paquetes = menos vulnerabilidades esperando ser explotadas — y builds y pulls más rápidos.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44568"/>
            <a:ext cx="1069848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544568"/>
            <a:ext cx="82296" cy="1298448"/>
          </a:xfrm>
          <a:prstGeom prst="rect">
            <a:avLst/>
          </a:prstGeom>
          <a:solidFill>
            <a:srgbClr val="6A2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65429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6A2E8F"/>
                </a:solidFill>
                <a:latin typeface="Helvetica Neue"/>
              </a:rPr>
              <a:t>3 · Cero secretos en la imagen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020056"/>
            <a:ext cx="103327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Nunca contraseñas, tokens o llaves en el Dockerfile o en archivos copiados: la imagen es legible por cualquiera que la tenga (docker history lo muestra todo). Los secretos se inyectan al RUN, no al BUILD — lo veremos en S5.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1">
                <a:solidFill>
                  <a:srgbClr val="B32D2D"/>
                </a:solidFill>
                <a:latin typeface="Helvetica Neue"/>
              </a:rPr>
              <a:t>La seguridad no se agrega al final: se hornea en la imagen desde el Dockerfile.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Buenas prácticas de Dockerfile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Las 5 que separan una imagen amateur de una profesional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2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55648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Una imagen, una responsabilidad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55648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Un servicio por imagen: la web aparte de la base de datos. (En S3 los conectamos en red.)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24328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Lo que más cambia, al final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24328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El orden de las capas decide el caché: base e instalaciones arriba, tu código abajo.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832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93008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Base oficial y versionada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493008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FROM nginx:1.27-alpine — nunca FROM de un desconocido, nunca sin versión. 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5196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361688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.dockerignore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361688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Excluye del contexto lo que no debe entrar: .git, node_modules, archivos de datos, secretos.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2064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230368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Imagen pequeña = ataque pequeño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5230368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Cada MB de más es superficie de ataque y minutos de despliegue. alpine/slim por defecto.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Los comandos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Se suman a los 7 de la Sesión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2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9222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63ED"/>
                </a:solidFill>
                <a:latin typeface="Helvetica Neue"/>
              </a:rPr>
              <a:t>docker build -t &lt;nombre:tag&gt;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9222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Construye la imagen desde el Dockerfile de la carpeta actual.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5915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0545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63ED"/>
                </a:solidFill>
                <a:latin typeface="Helvetica Neue"/>
              </a:rPr>
              <a:t>docker tag &lt;origen&gt; &lt;usuario/nombre:tag&gt;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0545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Crea el alias con tu usuario para poder publicarla.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7238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1868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63ED"/>
                </a:solidFill>
                <a:latin typeface="Helvetica Neue"/>
              </a:rPr>
              <a:t>docker 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2186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Autentica tu terminal contra Docker Hub.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8561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63ED"/>
                </a:solidFill>
                <a:latin typeface="Helvetica Neue"/>
              </a:rPr>
              <a:t>docker push &lt;usuario/nombre:tag&gt;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931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Sube tu imagen al registro.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98848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4515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63ED"/>
                </a:solidFill>
                <a:latin typeface="Helvetica Neue"/>
              </a:rPr>
              <a:t>docker history &lt;imagen&gt;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64515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Muestra las capas de la imagen — y delata secretos mal puestos. 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1208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5838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63ED"/>
                </a:solidFill>
                <a:latin typeface="Helvetica Neue"/>
              </a:rPr>
              <a:t>docker exec &lt;contenedor&gt; whoami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35838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Con qué usuario corre el proceso: la prueba del no-root. 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El laboratorio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60 minutos · Play with Docker · tu imagen al mundo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2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82296" cy="123444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013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0A651"/>
                </a:solidFill>
                <a:latin typeface="Helvetica Neue"/>
              </a:rPr>
              <a:t>Parte 1 · Construye tu imagen (25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6712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Escribe tu index.html personalizado y tu primer Dockerfile; constrúyelo con docker build, córrelo y míralo en el navegador. Luego cambia el HTML y reconstruye: verás el caché en acción con la versión 1.1.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63240"/>
            <a:ext cx="82296" cy="12344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729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E8A8A"/>
                </a:solidFill>
                <a:latin typeface="Helvetica Neue"/>
              </a:rPr>
              <a:t>Parte 2 · Publícala en Docker Hub (20 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3872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docker login, tag con tu usuario y push. Después, la prueba reina: abre una INSTANCIA NUEVA de Play with Docker (otra máquina) y corre tu imagen con un solo comando.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434840"/>
            <a:ext cx="82296" cy="123444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445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B32D2D"/>
                </a:solidFill>
                <a:latin typeface="Helvetica Neue"/>
              </a:rPr>
              <a:t>Parte 3 · 🔒 Endurécela (15 min)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1032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Comprueba con whoami que tu contenedor corre como root; reconstrúyelo sobre la base unprivileged y comprueba que ya no. Cierra con docker history: las capas no mienten.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0A651"/>
                </a:solidFill>
                <a:latin typeface="Helvetica Neue"/>
              </a:rPr>
              <a:t>Entregable de la S2: la URL pública de TU imagen en Docker Hub + captura del pull en la instancia nueva.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03DA5"/>
              </a:gs>
              <a:gs pos="100000">
                <a:srgbClr val="00A651"/>
              </a:gs>
            </a:gsLst>
            <a:lin ang="2100000" scaled="1"/>
          </a:gradFill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Las 3 ideas que te llevas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962656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D1B4B"/>
                </a:solidFill>
                <a:latin typeface="Helvetica Neue"/>
              </a:rPr>
              <a:t>1 ·  El Dockerfile es la receta en texto plano: versionable, auditable y repetible.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67328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86784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D1B4B"/>
                </a:solidFill>
                <a:latin typeface="Helvetica Neue"/>
              </a:rPr>
              <a:t>2 ·  Build → tag → push: publicaste una vez y cualquier máquina del mundo hace pull.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791456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010912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D1B4B"/>
                </a:solidFill>
                <a:latin typeface="Helvetica Neue"/>
              </a:rPr>
              <a:t>3 ·  La seguridad se hornea en la imagen: no-root, base mínima, cero secretos.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Próxima sesión: conectas varios contenedores entre sí — redes aisladas y una app multi-contenedor.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